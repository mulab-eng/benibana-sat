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6"/>
  </p:notesMasterIdLst>
  <p:sldIdLst>
    <p:sldId id="465" r:id="rId5"/>
    <p:sldId id="462" r:id="rId6"/>
    <p:sldId id="498" r:id="rId7"/>
    <p:sldId id="464" r:id="rId8"/>
    <p:sldId id="466" r:id="rId9"/>
    <p:sldId id="467" r:id="rId10"/>
    <p:sldId id="468" r:id="rId11"/>
    <p:sldId id="469" r:id="rId12"/>
    <p:sldId id="470" r:id="rId13"/>
    <p:sldId id="471" r:id="rId14"/>
    <p:sldId id="504" r:id="rId15"/>
    <p:sldId id="472" r:id="rId16"/>
    <p:sldId id="473" r:id="rId17"/>
    <p:sldId id="474" r:id="rId18"/>
    <p:sldId id="475" r:id="rId19"/>
    <p:sldId id="477" r:id="rId20"/>
    <p:sldId id="476" r:id="rId21"/>
    <p:sldId id="478" r:id="rId22"/>
    <p:sldId id="479" r:id="rId23"/>
    <p:sldId id="480" r:id="rId24"/>
    <p:sldId id="486" r:id="rId25"/>
    <p:sldId id="481" r:id="rId26"/>
    <p:sldId id="488" r:id="rId27"/>
    <p:sldId id="482" r:id="rId28"/>
    <p:sldId id="483" r:id="rId29"/>
    <p:sldId id="484" r:id="rId30"/>
    <p:sldId id="485" r:id="rId31"/>
    <p:sldId id="490" r:id="rId32"/>
    <p:sldId id="489" r:id="rId33"/>
    <p:sldId id="497" r:id="rId34"/>
    <p:sldId id="491" r:id="rId35"/>
    <p:sldId id="492" r:id="rId36"/>
    <p:sldId id="493" r:id="rId37"/>
    <p:sldId id="494" r:id="rId38"/>
    <p:sldId id="496" r:id="rId39"/>
    <p:sldId id="495" r:id="rId40"/>
    <p:sldId id="501" r:id="rId41"/>
    <p:sldId id="499" r:id="rId42"/>
    <p:sldId id="500" r:id="rId43"/>
    <p:sldId id="502" r:id="rId44"/>
    <p:sldId id="503" r:id="rId4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村松鋭一" initials="村松鋭一" lastIdx="0" clrIdx="0">
    <p:extLst>
      <p:ext uri="{19B8F6BF-5375-455C-9EA6-DF929625EA0E}">
        <p15:presenceInfo xmlns:p15="http://schemas.microsoft.com/office/powerpoint/2012/main" userId="村松鋭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2A0A67-07CB-4A27-9961-31236BC3B94B}" v="5" dt="2026-08-02T08:31:14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7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村松鋭一" userId="afe10c80-3e47-4e0a-b6f0-4c556cd4610a" providerId="ADAL" clId="{4B1BDE03-98E2-42CB-8E5E-6A9EFF021B24}"/>
    <pc:docChg chg="undo custSel addSld delSld modSld">
      <pc:chgData name="村松鋭一" userId="afe10c80-3e47-4e0a-b6f0-4c556cd4610a" providerId="ADAL" clId="{4B1BDE03-98E2-42CB-8E5E-6A9EFF021B24}" dt="2026-08-02T08:51:15.759" v="583" actId="1076"/>
      <pc:docMkLst>
        <pc:docMk/>
      </pc:docMkLst>
      <pc:sldChg chg="modSp mod">
        <pc:chgData name="村松鋭一" userId="afe10c80-3e47-4e0a-b6f0-4c556cd4610a" providerId="ADAL" clId="{4B1BDE03-98E2-42CB-8E5E-6A9EFF021B24}" dt="2026-08-02T07:53:11.692" v="58" actId="20577"/>
        <pc:sldMkLst>
          <pc:docMk/>
          <pc:sldMk cId="2219282192" sldId="491"/>
        </pc:sldMkLst>
        <pc:spChg chg="mod">
          <ac:chgData name="村松鋭一" userId="afe10c80-3e47-4e0a-b6f0-4c556cd4610a" providerId="ADAL" clId="{4B1BDE03-98E2-42CB-8E5E-6A9EFF021B24}" dt="2026-08-02T07:53:11.692" v="58" actId="20577"/>
          <ac:spMkLst>
            <pc:docMk/>
            <pc:sldMk cId="2219282192" sldId="491"/>
            <ac:spMk id="5" creationId="{EF5594F0-D325-F9B5-6187-69929A2878C5}"/>
          </ac:spMkLst>
        </pc:spChg>
      </pc:sldChg>
      <pc:sldChg chg="modSp mod">
        <pc:chgData name="村松鋭一" userId="afe10c80-3e47-4e0a-b6f0-4c556cd4610a" providerId="ADAL" clId="{4B1BDE03-98E2-42CB-8E5E-6A9EFF021B24}" dt="2026-08-02T08:14:31.125" v="421" actId="1076"/>
        <pc:sldMkLst>
          <pc:docMk/>
          <pc:sldMk cId="827394282" sldId="499"/>
        </pc:sldMkLst>
        <pc:spChg chg="mod">
          <ac:chgData name="村松鋭一" userId="afe10c80-3e47-4e0a-b6f0-4c556cd4610a" providerId="ADAL" clId="{4B1BDE03-98E2-42CB-8E5E-6A9EFF021B24}" dt="2026-08-02T08:14:31.125" v="421" actId="1076"/>
          <ac:spMkLst>
            <pc:docMk/>
            <pc:sldMk cId="827394282" sldId="499"/>
            <ac:spMk id="2" creationId="{2CB4F4F7-8D1B-E45A-9A69-15C521F127FF}"/>
          </ac:spMkLst>
        </pc:spChg>
      </pc:sldChg>
      <pc:sldChg chg="addSp delSp modSp mod">
        <pc:chgData name="村松鋭一" userId="afe10c80-3e47-4e0a-b6f0-4c556cd4610a" providerId="ADAL" clId="{4B1BDE03-98E2-42CB-8E5E-6A9EFF021B24}" dt="2026-08-02T08:21:03.278" v="532" actId="1076"/>
        <pc:sldMkLst>
          <pc:docMk/>
          <pc:sldMk cId="141813027" sldId="500"/>
        </pc:sldMkLst>
        <pc:spChg chg="del">
          <ac:chgData name="村松鋭一" userId="afe10c80-3e47-4e0a-b6f0-4c556cd4610a" providerId="ADAL" clId="{4B1BDE03-98E2-42CB-8E5E-6A9EFF021B24}" dt="2026-08-02T08:19:17.682" v="422" actId="478"/>
          <ac:spMkLst>
            <pc:docMk/>
            <pc:sldMk cId="141813027" sldId="500"/>
            <ac:spMk id="4" creationId="{F8E4D3BD-15CB-7619-5A88-463BC4E3A7A9}"/>
          </ac:spMkLst>
        </pc:spChg>
        <pc:spChg chg="add mod">
          <ac:chgData name="村松鋭一" userId="afe10c80-3e47-4e0a-b6f0-4c556cd4610a" providerId="ADAL" clId="{4B1BDE03-98E2-42CB-8E5E-6A9EFF021B24}" dt="2026-08-02T08:20:29.178" v="492" actId="20577"/>
          <ac:spMkLst>
            <pc:docMk/>
            <pc:sldMk cId="141813027" sldId="500"/>
            <ac:spMk id="6" creationId="{EDD4F7F5-7173-14AB-7A81-A34CC6CA56AE}"/>
          </ac:spMkLst>
        </pc:spChg>
        <pc:spChg chg="add mod">
          <ac:chgData name="村松鋭一" userId="afe10c80-3e47-4e0a-b6f0-4c556cd4610a" providerId="ADAL" clId="{4B1BDE03-98E2-42CB-8E5E-6A9EFF021B24}" dt="2026-08-02T08:20:34.994" v="499" actId="20577"/>
          <ac:spMkLst>
            <pc:docMk/>
            <pc:sldMk cId="141813027" sldId="500"/>
            <ac:spMk id="8" creationId="{7AF6F210-B524-6123-927E-CED22D92D51E}"/>
          </ac:spMkLst>
        </pc:spChg>
        <pc:spChg chg="add mod">
          <ac:chgData name="村松鋭一" userId="afe10c80-3e47-4e0a-b6f0-4c556cd4610a" providerId="ADAL" clId="{4B1BDE03-98E2-42CB-8E5E-6A9EFF021B24}" dt="2026-08-02T08:21:03.278" v="532" actId="1076"/>
          <ac:spMkLst>
            <pc:docMk/>
            <pc:sldMk cId="141813027" sldId="500"/>
            <ac:spMk id="9" creationId="{87B58AE4-0DBF-A2C0-C90D-76204A51C254}"/>
          </ac:spMkLst>
        </pc:spChg>
        <pc:picChg chg="del">
          <ac:chgData name="村松鋭一" userId="afe10c80-3e47-4e0a-b6f0-4c556cd4610a" providerId="ADAL" clId="{4B1BDE03-98E2-42CB-8E5E-6A9EFF021B24}" dt="2026-08-02T08:19:17.682" v="422" actId="478"/>
          <ac:picMkLst>
            <pc:docMk/>
            <pc:sldMk cId="141813027" sldId="500"/>
            <ac:picMk id="3" creationId="{F6E49179-564B-130C-5C1A-9813C740B824}"/>
          </ac:picMkLst>
        </pc:picChg>
        <pc:picChg chg="add mod">
          <ac:chgData name="村松鋭一" userId="afe10c80-3e47-4e0a-b6f0-4c556cd4610a" providerId="ADAL" clId="{4B1BDE03-98E2-42CB-8E5E-6A9EFF021B24}" dt="2026-08-02T08:19:22.399" v="424" actId="1076"/>
          <ac:picMkLst>
            <pc:docMk/>
            <pc:sldMk cId="141813027" sldId="500"/>
            <ac:picMk id="5" creationId="{4D48EF90-7ACB-A56E-4722-E71A5E815E68}"/>
          </ac:picMkLst>
        </pc:picChg>
      </pc:sldChg>
      <pc:sldChg chg="modSp mod">
        <pc:chgData name="村松鋭一" userId="afe10c80-3e47-4e0a-b6f0-4c556cd4610a" providerId="ADAL" clId="{4B1BDE03-98E2-42CB-8E5E-6A9EFF021B24}" dt="2026-08-02T08:14:15.990" v="413" actId="1076"/>
        <pc:sldMkLst>
          <pc:docMk/>
          <pc:sldMk cId="1035755972" sldId="501"/>
        </pc:sldMkLst>
        <pc:spChg chg="mod">
          <ac:chgData name="村松鋭一" userId="afe10c80-3e47-4e0a-b6f0-4c556cd4610a" providerId="ADAL" clId="{4B1BDE03-98E2-42CB-8E5E-6A9EFF021B24}" dt="2026-08-02T08:11:32.557" v="59" actId="1076"/>
          <ac:spMkLst>
            <pc:docMk/>
            <pc:sldMk cId="1035755972" sldId="501"/>
            <ac:spMk id="2" creationId="{E78DF1F9-2824-6060-3B03-61E47B5A0013}"/>
          </ac:spMkLst>
        </pc:spChg>
        <pc:spChg chg="mod">
          <ac:chgData name="村松鋭一" userId="afe10c80-3e47-4e0a-b6f0-4c556cd4610a" providerId="ADAL" clId="{4B1BDE03-98E2-42CB-8E5E-6A9EFF021B24}" dt="2026-08-02T08:11:34.956" v="60" actId="1076"/>
          <ac:spMkLst>
            <pc:docMk/>
            <pc:sldMk cId="1035755972" sldId="501"/>
            <ac:spMk id="3" creationId="{57A77019-6A45-3F8A-3E53-5EF0E4285B40}"/>
          </ac:spMkLst>
        </pc:spChg>
        <pc:spChg chg="mod">
          <ac:chgData name="村松鋭一" userId="afe10c80-3e47-4e0a-b6f0-4c556cd4610a" providerId="ADAL" clId="{4B1BDE03-98E2-42CB-8E5E-6A9EFF021B24}" dt="2026-08-02T08:14:13.967" v="412" actId="1076"/>
          <ac:spMkLst>
            <pc:docMk/>
            <pc:sldMk cId="1035755972" sldId="501"/>
            <ac:spMk id="4" creationId="{EB7F369E-318E-6868-5D92-6868F93B9A11}"/>
          </ac:spMkLst>
        </pc:spChg>
        <pc:spChg chg="mod">
          <ac:chgData name="村松鋭一" userId="afe10c80-3e47-4e0a-b6f0-4c556cd4610a" providerId="ADAL" clId="{4B1BDE03-98E2-42CB-8E5E-6A9EFF021B24}" dt="2026-08-02T08:14:15.990" v="413" actId="1076"/>
          <ac:spMkLst>
            <pc:docMk/>
            <pc:sldMk cId="1035755972" sldId="501"/>
            <ac:spMk id="5" creationId="{D7BB36F5-7CA0-E6F2-59EB-77568CAF8376}"/>
          </ac:spMkLst>
        </pc:spChg>
        <pc:spChg chg="mod">
          <ac:chgData name="村松鋭一" userId="afe10c80-3e47-4e0a-b6f0-4c556cd4610a" providerId="ADAL" clId="{4B1BDE03-98E2-42CB-8E5E-6A9EFF021B24}" dt="2026-08-02T08:14:05.453" v="410" actId="1076"/>
          <ac:spMkLst>
            <pc:docMk/>
            <pc:sldMk cId="1035755972" sldId="501"/>
            <ac:spMk id="6" creationId="{CA901A2D-9716-D085-166D-497876C38171}"/>
          </ac:spMkLst>
        </pc:spChg>
        <pc:spChg chg="mod">
          <ac:chgData name="村松鋭一" userId="afe10c80-3e47-4e0a-b6f0-4c556cd4610a" providerId="ADAL" clId="{4B1BDE03-98E2-42CB-8E5E-6A9EFF021B24}" dt="2026-08-02T08:11:37.546" v="61" actId="1076"/>
          <ac:spMkLst>
            <pc:docMk/>
            <pc:sldMk cId="1035755972" sldId="501"/>
            <ac:spMk id="8" creationId="{313A658D-34B0-3E8F-556F-2A3A336CA338}"/>
          </ac:spMkLst>
        </pc:spChg>
      </pc:sldChg>
      <pc:sldChg chg="addSp delSp modSp new mod modAnim">
        <pc:chgData name="村松鋭一" userId="afe10c80-3e47-4e0a-b6f0-4c556cd4610a" providerId="ADAL" clId="{4B1BDE03-98E2-42CB-8E5E-6A9EFF021B24}" dt="2026-08-02T08:35:21.771" v="563" actId="14100"/>
        <pc:sldMkLst>
          <pc:docMk/>
          <pc:sldMk cId="489835126" sldId="502"/>
        </pc:sldMkLst>
        <pc:spChg chg="add mod">
          <ac:chgData name="村松鋭一" userId="afe10c80-3e47-4e0a-b6f0-4c556cd4610a" providerId="ADAL" clId="{4B1BDE03-98E2-42CB-8E5E-6A9EFF021B24}" dt="2026-08-02T08:35:17.547" v="562" actId="1076"/>
          <ac:spMkLst>
            <pc:docMk/>
            <pc:sldMk cId="489835126" sldId="502"/>
            <ac:spMk id="3" creationId="{41B7B476-73F0-9D38-80B1-F1D5AB95CD4D}"/>
          </ac:spMkLst>
        </pc:spChg>
        <pc:spChg chg="add">
          <ac:chgData name="村松鋭一" userId="afe10c80-3e47-4e0a-b6f0-4c556cd4610a" providerId="ADAL" clId="{4B1BDE03-98E2-42CB-8E5E-6A9EFF021B24}" dt="2026-08-02T08:30:37.961" v="539" actId="11529"/>
          <ac:spMkLst>
            <pc:docMk/>
            <pc:sldMk cId="489835126" sldId="502"/>
            <ac:spMk id="5" creationId="{85EAA725-D74E-33C4-73B0-CE824320884A}"/>
          </ac:spMkLst>
        </pc:spChg>
        <pc:grpChg chg="mod">
          <ac:chgData name="村松鋭一" userId="afe10c80-3e47-4e0a-b6f0-4c556cd4610a" providerId="ADAL" clId="{4B1BDE03-98E2-42CB-8E5E-6A9EFF021B24}" dt="2026-08-02T08:31:14.918" v="550"/>
          <ac:grpSpMkLst>
            <pc:docMk/>
            <pc:sldMk cId="489835126" sldId="502"/>
            <ac:grpSpMk id="10" creationId="{2CC36BAF-79DF-DC57-5404-F91FB213C169}"/>
          </ac:grpSpMkLst>
        </pc:grpChg>
        <pc:picChg chg="add mod">
          <ac:chgData name="村松鋭一" userId="afe10c80-3e47-4e0a-b6f0-4c556cd4610a" providerId="ADAL" clId="{4B1BDE03-98E2-42CB-8E5E-6A9EFF021B24}" dt="2026-08-02T08:34:36.468" v="553" actId="1076"/>
          <ac:picMkLst>
            <pc:docMk/>
            <pc:sldMk cId="489835126" sldId="502"/>
            <ac:picMk id="4" creationId="{2F0FE04B-B835-B4DA-1F9D-288A087C6DEC}"/>
          </ac:picMkLst>
        </pc:picChg>
        <pc:picChg chg="add mod ord">
          <ac:chgData name="村松鋭一" userId="afe10c80-3e47-4e0a-b6f0-4c556cd4610a" providerId="ADAL" clId="{4B1BDE03-98E2-42CB-8E5E-6A9EFF021B24}" dt="2026-08-02T08:35:13.967" v="561" actId="1076"/>
          <ac:picMkLst>
            <pc:docMk/>
            <pc:sldMk cId="489835126" sldId="502"/>
            <ac:picMk id="7" creationId="{18F66032-6E9E-FFE3-A1DB-50F29E3EE0EF}"/>
          </ac:picMkLst>
        </pc:picChg>
        <pc:picChg chg="add del">
          <ac:chgData name="村松鋭一" userId="afe10c80-3e47-4e0a-b6f0-4c556cd4610a" providerId="ADAL" clId="{4B1BDE03-98E2-42CB-8E5E-6A9EFF021B24}" dt="2026-08-02T08:34:48.897" v="556" actId="22"/>
          <ac:picMkLst>
            <pc:docMk/>
            <pc:sldMk cId="489835126" sldId="502"/>
            <ac:picMk id="12" creationId="{61B4D4C9-7944-901D-5242-8ECEA16861FA}"/>
          </ac:picMkLst>
        </pc:picChg>
        <pc:picChg chg="add mod">
          <ac:chgData name="村松鋭一" userId="afe10c80-3e47-4e0a-b6f0-4c556cd4610a" providerId="ADAL" clId="{4B1BDE03-98E2-42CB-8E5E-6A9EFF021B24}" dt="2026-08-02T08:35:21.771" v="563" actId="14100"/>
          <ac:picMkLst>
            <pc:docMk/>
            <pc:sldMk cId="489835126" sldId="502"/>
            <ac:picMk id="14" creationId="{2C95A214-D553-4A23-724A-0E7E74C92311}"/>
          </ac:picMkLst>
        </pc:picChg>
        <pc:inkChg chg="add del mod">
          <ac:chgData name="村松鋭一" userId="afe10c80-3e47-4e0a-b6f0-4c556cd4610a" providerId="ADAL" clId="{4B1BDE03-98E2-42CB-8E5E-6A9EFF021B24}" dt="2026-08-02T08:31:15.967" v="551" actId="9405"/>
          <ac:inkMkLst>
            <pc:docMk/>
            <pc:sldMk cId="489835126" sldId="502"/>
            <ac:inkMk id="8" creationId="{1E5307CE-F79C-B31D-D5B6-CFBCC696C839}"/>
          </ac:inkMkLst>
        </pc:inkChg>
        <pc:inkChg chg="add del mod">
          <ac:chgData name="村松鋭一" userId="afe10c80-3e47-4e0a-b6f0-4c556cd4610a" providerId="ADAL" clId="{4B1BDE03-98E2-42CB-8E5E-6A9EFF021B24}" dt="2026-08-02T08:31:14.918" v="550"/>
          <ac:inkMkLst>
            <pc:docMk/>
            <pc:sldMk cId="489835126" sldId="502"/>
            <ac:inkMk id="9" creationId="{675E92D7-BC36-377D-D47A-D8ED32AEF613}"/>
          </ac:inkMkLst>
        </pc:inkChg>
      </pc:sldChg>
      <pc:sldChg chg="addSp delSp modSp new mod">
        <pc:chgData name="村松鋭一" userId="afe10c80-3e47-4e0a-b6f0-4c556cd4610a" providerId="ADAL" clId="{4B1BDE03-98E2-42CB-8E5E-6A9EFF021B24}" dt="2026-08-02T08:51:15.759" v="583" actId="1076"/>
        <pc:sldMkLst>
          <pc:docMk/>
          <pc:sldMk cId="4274904132" sldId="503"/>
        </pc:sldMkLst>
        <pc:spChg chg="add mod">
          <ac:chgData name="村松鋭一" userId="afe10c80-3e47-4e0a-b6f0-4c556cd4610a" providerId="ADAL" clId="{4B1BDE03-98E2-42CB-8E5E-6A9EFF021B24}" dt="2026-08-02T08:47:50.448" v="569" actId="1076"/>
          <ac:spMkLst>
            <pc:docMk/>
            <pc:sldMk cId="4274904132" sldId="503"/>
            <ac:spMk id="3" creationId="{FE155FE6-490B-F3C1-277B-B93BEB6D97DB}"/>
          </ac:spMkLst>
        </pc:spChg>
        <pc:spChg chg="add">
          <ac:chgData name="村松鋭一" userId="afe10c80-3e47-4e0a-b6f0-4c556cd4610a" providerId="ADAL" clId="{4B1BDE03-98E2-42CB-8E5E-6A9EFF021B24}" dt="2026-08-02T08:48:47.032" v="571" actId="11529"/>
          <ac:spMkLst>
            <pc:docMk/>
            <pc:sldMk cId="4274904132" sldId="503"/>
            <ac:spMk id="6" creationId="{837CDC54-9242-A58A-F376-23B343B32171}"/>
          </ac:spMkLst>
        </pc:spChg>
        <pc:spChg chg="add mod">
          <ac:chgData name="村松鋭一" userId="afe10c80-3e47-4e0a-b6f0-4c556cd4610a" providerId="ADAL" clId="{4B1BDE03-98E2-42CB-8E5E-6A9EFF021B24}" dt="2026-08-02T08:48:56.903" v="573" actId="1076"/>
          <ac:spMkLst>
            <pc:docMk/>
            <pc:sldMk cId="4274904132" sldId="503"/>
            <ac:spMk id="8" creationId="{88C2F08E-625C-7A12-5F85-A7DE7FEB2F12}"/>
          </ac:spMkLst>
        </pc:spChg>
        <pc:picChg chg="add del mod">
          <ac:chgData name="村松鋭一" userId="afe10c80-3e47-4e0a-b6f0-4c556cd4610a" providerId="ADAL" clId="{4B1BDE03-98E2-42CB-8E5E-6A9EFF021B24}" dt="2026-08-02T08:50:41.792" v="579" actId="478"/>
          <ac:picMkLst>
            <pc:docMk/>
            <pc:sldMk cId="4274904132" sldId="503"/>
            <ac:picMk id="5" creationId="{B63A12EA-24C5-AAE5-51A9-8261497E3245}"/>
          </ac:picMkLst>
        </pc:picChg>
        <pc:picChg chg="add mod ord">
          <ac:chgData name="村松鋭一" userId="afe10c80-3e47-4e0a-b6f0-4c556cd4610a" providerId="ADAL" clId="{4B1BDE03-98E2-42CB-8E5E-6A9EFF021B24}" dt="2026-08-02T08:51:15.759" v="583" actId="1076"/>
          <ac:picMkLst>
            <pc:docMk/>
            <pc:sldMk cId="4274904132" sldId="503"/>
            <ac:picMk id="11" creationId="{C2F19356-6BA9-4E1C-1034-77970EB7C8BB}"/>
          </ac:picMkLst>
        </pc:picChg>
        <pc:inkChg chg="add">
          <ac:chgData name="村松鋭一" userId="afe10c80-3e47-4e0a-b6f0-4c556cd4610a" providerId="ADAL" clId="{4B1BDE03-98E2-42CB-8E5E-6A9EFF021B24}" dt="2026-08-02T08:50:27.322" v="574" actId="9405"/>
          <ac:inkMkLst>
            <pc:docMk/>
            <pc:sldMk cId="4274904132" sldId="503"/>
            <ac:inkMk id="9" creationId="{885760A5-B800-7EAF-F8CA-B1834F279D91}"/>
          </ac:inkMkLst>
        </pc:inkChg>
      </pc:sldChg>
      <pc:sldChg chg="add del">
        <pc:chgData name="村松鋭一" userId="afe10c80-3e47-4e0a-b6f0-4c556cd4610a" providerId="ADAL" clId="{4B1BDE03-98E2-42CB-8E5E-6A9EFF021B24}" dt="2026-08-02T08:50:36.278" v="577"/>
        <pc:sldMkLst>
          <pc:docMk/>
          <pc:sldMk cId="3063258566" sldId="50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0:00:55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8 13219,'0'0'7809,"-46"-8"-7200,40 8-105,1 0-232,3 0-272,2 4-3057,0 0-768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0:46:18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14835,'0'0'4009,"0"-2"-4025,0-9-432,0-1-888,0-4-2857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3:56:35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0 5753,'0'0'688,"-39"0"-288,42 0 17,6 0-105,0 2-200,-2-2-104,-1 0-8,-1 0-584,-3 0-1545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5:10:30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17596,'0'0'3913,"0"-51"-5522,0 20-1519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5:10:30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17596,'0'0'3913,"0"-51"-5522,0 20-1519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6:22:25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9794,'0'0'4712,"11"-17"7620,-9 17-12223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6:22:26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4337,'0'0'15985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6:22:28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7642,'0'0'11807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5:10:30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17596,'0'0'3913,"0"-51"-5522,0 20-1519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6:49:47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0 17748,'0'0'2096,"-142"27"-14818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6:53:02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14979,'0'0'5313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7:02:25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 1344,'0'0'768,"7"-5"-1846,17-11 929,57-41 1588,-63 43-645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7:02:25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0 101 616</inkml:trace>
  <inkml:trace contextRef="#ctx0" brushRef="#br0" timeOffset="1">0 101 616,'135'-95'1208,"-133"91"-1176,-2 2-32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08:50:27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23 11546,'0'0'9875,"-9"0"-10155,0-6-2081,-3-11-3432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152A6-F445-442E-BB77-D395B0766895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01A4F-BA4F-41CA-8B66-0AA62E0B70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2926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01A4F-BA4F-41CA-8B66-0AA62E0B70F9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276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01A4F-BA4F-41CA-8B66-0AA62E0B70F9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019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01A4F-BA4F-41CA-8B66-0AA62E0B70F9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338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01A4F-BA4F-41CA-8B66-0AA62E0B70F9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5670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09A5D-D6F7-AD0D-C5CD-2C41385E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C3916B4-CF44-4865-4966-FB40CB2D3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35EF322-483B-0511-FE62-6BECA02FD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73BC8E-6ABE-D77B-0F08-3E3904481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01A4F-BA4F-41CA-8B66-0AA62E0B70F9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829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7C4-D08D-4991-9134-0CD5897C37C3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AFD01-766B-4A0B-A6DF-C806EBCF8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3162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7C4-D08D-4991-9134-0CD5897C37C3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AFD01-766B-4A0B-A6DF-C806EBCF8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82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7C4-D08D-4991-9134-0CD5897C37C3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AFD01-766B-4A0B-A6DF-C806EBCF8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251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7C4-D08D-4991-9134-0CD5897C37C3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AFD01-766B-4A0B-A6DF-C806EBCF8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976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7C4-D08D-4991-9134-0CD5897C37C3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AFD01-766B-4A0B-A6DF-C806EBCF8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593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7C4-D08D-4991-9134-0CD5897C37C3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AFD01-766B-4A0B-A6DF-C806EBCF8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97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7C4-D08D-4991-9134-0CD5897C37C3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AFD01-766B-4A0B-A6DF-C806EBCF8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085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7C4-D08D-4991-9134-0CD5897C37C3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AFD01-766B-4A0B-A6DF-C806EBCF8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324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7C4-D08D-4991-9134-0CD5897C37C3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AFD01-766B-4A0B-A6DF-C806EBCF8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1111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7C4-D08D-4991-9134-0CD5897C37C3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AFD01-766B-4A0B-A6DF-C806EBCF8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45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867C4-D08D-4991-9134-0CD5897C37C3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AFD01-766B-4A0B-A6DF-C806EBCF8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11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867C4-D08D-4991-9134-0CD5897C37C3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AFD01-766B-4A0B-A6DF-C806EBCF8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1028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customXml" Target="../ink/ink7.xml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customXml" Target="../ink/ink12.xml"/><Relationship Id="rId3" Type="http://schemas.openxmlformats.org/officeDocument/2006/relationships/image" Target="../media/image54.png"/><Relationship Id="rId7" Type="http://schemas.openxmlformats.org/officeDocument/2006/relationships/customXml" Target="../ink/ink11.xml"/><Relationship Id="rId12" Type="http://schemas.openxmlformats.org/officeDocument/2006/relationships/image" Target="../media/image60.png"/><Relationship Id="rId2" Type="http://schemas.openxmlformats.org/officeDocument/2006/relationships/image" Target="../media/image53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59.png"/><Relationship Id="rId5" Type="http://schemas.openxmlformats.org/officeDocument/2006/relationships/image" Target="../media/image55.png"/><Relationship Id="rId15" Type="http://schemas.openxmlformats.org/officeDocument/2006/relationships/customXml" Target="../ink/ink13.xml"/><Relationship Id="rId10" Type="http://schemas.openxmlformats.org/officeDocument/2006/relationships/image" Target="../media/image58.png"/><Relationship Id="rId4" Type="http://schemas.openxmlformats.org/officeDocument/2006/relationships/customXml" Target="../ink/ink10.xml"/><Relationship Id="rId9" Type="http://schemas.openxmlformats.org/officeDocument/2006/relationships/image" Target="../media/image57.png"/><Relationship Id="rId1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FBAC19-F727-C06D-8725-5D6087E3E204}"/>
              </a:ext>
            </a:extLst>
          </p:cNvPr>
          <p:cNvSpPr txBox="1"/>
          <p:nvPr/>
        </p:nvSpPr>
        <p:spPr>
          <a:xfrm>
            <a:off x="811996" y="1737175"/>
            <a:ext cx="75200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b="1" dirty="0"/>
              <a:t>「人工衛星の姿勢制御理論」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782D72-332E-573C-E34F-201A516CD531}"/>
              </a:ext>
            </a:extLst>
          </p:cNvPr>
          <p:cNvSpPr txBox="1"/>
          <p:nvPr/>
        </p:nvSpPr>
        <p:spPr>
          <a:xfrm>
            <a:off x="1536192" y="3282696"/>
            <a:ext cx="628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意外と難しい？人工衛星の運動方程式</a:t>
            </a:r>
            <a:endParaRPr kumimoji="1" lang="ja-JP" altLang="en-US" sz="2800" dirty="0">
              <a:latin typeface="HG創英角ﾎﾟｯﾌﾟ体" panose="040B0A09000000000000" pitchFamily="49" charset="-128"/>
              <a:ea typeface="HG創英角ﾎﾟｯﾌﾟ体" panose="040B0A09000000000000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877D61C-91FD-B93B-1E71-95FC97E45C04}"/>
              </a:ext>
            </a:extLst>
          </p:cNvPr>
          <p:cNvSpPr txBox="1"/>
          <p:nvPr/>
        </p:nvSpPr>
        <p:spPr>
          <a:xfrm>
            <a:off x="2433873" y="3937498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人工衛星を回転させる方法</a:t>
            </a:r>
            <a:endParaRPr kumimoji="1" lang="ja-JP" altLang="en-US" sz="2800" dirty="0">
              <a:latin typeface="HG創英角ﾎﾟｯﾌﾟ体" panose="040B0A09000000000000" pitchFamily="49" charset="-128"/>
              <a:ea typeface="HG創英角ﾎﾟｯﾌﾟ体" panose="040B0A09000000000000" pitchFamily="49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7177CB3-4761-F7E9-50C4-E1CAF67F3B63}"/>
              </a:ext>
            </a:extLst>
          </p:cNvPr>
          <p:cNvSpPr txBox="1"/>
          <p:nvPr/>
        </p:nvSpPr>
        <p:spPr>
          <a:xfrm>
            <a:off x="1621617" y="5084064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山形大学　機械システム工学専攻　村松鋭一</a:t>
            </a:r>
          </a:p>
        </p:txBody>
      </p:sp>
    </p:spTree>
    <p:extLst>
      <p:ext uri="{BB962C8B-B14F-4D97-AF65-F5344CB8AC3E}">
        <p14:creationId xmlns:p14="http://schemas.microsoft.com/office/powerpoint/2010/main" val="359878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29222D0-969F-33E8-E124-DB5F00903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" b="25147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589F750-F2B1-0CD2-9042-7001012C20DB}"/>
              </a:ext>
            </a:extLst>
          </p:cNvPr>
          <p:cNvSpPr txBox="1"/>
          <p:nvPr/>
        </p:nvSpPr>
        <p:spPr>
          <a:xfrm>
            <a:off x="1075477" y="4115453"/>
            <a:ext cx="6805464" cy="985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1600" dirty="0"/>
              <a:t>超小型衛星「ベニバナサット」を山形県内企業と山形大学工学部で開発</a:t>
            </a:r>
            <a:endParaRPr lang="en-US" altLang="ja-JP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600" dirty="0"/>
              <a:t>国際宇宙ステーションからを放出</a:t>
            </a:r>
            <a:endParaRPr kumimoji="1" lang="en-US" altLang="ja-JP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600" dirty="0"/>
              <a:t>地球のまわりを周回（</a:t>
            </a:r>
            <a:r>
              <a:rPr kumimoji="1" lang="en-US" altLang="ja-JP" sz="1600" dirty="0"/>
              <a:t>90</a:t>
            </a:r>
            <a:r>
              <a:rPr kumimoji="1" lang="ja-JP" altLang="en-US" sz="1600" dirty="0"/>
              <a:t>分で</a:t>
            </a:r>
            <a:r>
              <a:rPr kumimoji="1" lang="en-US" altLang="ja-JP" sz="1600" dirty="0"/>
              <a:t>1</a:t>
            </a:r>
            <a:r>
              <a:rPr kumimoji="1" lang="ja-JP" altLang="en-US" sz="1600" dirty="0"/>
              <a:t>周）</a:t>
            </a:r>
            <a:endParaRPr kumimoji="1" lang="en-US" altLang="ja-JP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600" dirty="0"/>
              <a:t>地上局と通信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956AA0-9B16-7C70-86D6-D8A642A39D7A}"/>
              </a:ext>
            </a:extLst>
          </p:cNvPr>
          <p:cNvSpPr txBox="1"/>
          <p:nvPr/>
        </p:nvSpPr>
        <p:spPr>
          <a:xfrm>
            <a:off x="831057" y="3710613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「ベニバナサット」プロジェクト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EFABBFD-F0B0-4F19-870E-485B7E10CB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435" y="4618284"/>
            <a:ext cx="3251201" cy="177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5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F455D02-52C5-C089-E100-1C335BDD6BDE}"/>
              </a:ext>
            </a:extLst>
          </p:cNvPr>
          <p:cNvSpPr txBox="1"/>
          <p:nvPr/>
        </p:nvSpPr>
        <p:spPr>
          <a:xfrm>
            <a:off x="1006764" y="2595419"/>
            <a:ext cx="7366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第１章：人工衛星の運動方程式</a:t>
            </a:r>
          </a:p>
        </p:txBody>
      </p:sp>
    </p:spTree>
    <p:extLst>
      <p:ext uri="{BB962C8B-B14F-4D97-AF65-F5344CB8AC3E}">
        <p14:creationId xmlns:p14="http://schemas.microsoft.com/office/powerpoint/2010/main" val="3494635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363E8ED-0C24-DD46-C4B2-4F174298ED21}"/>
              </a:ext>
            </a:extLst>
          </p:cNvPr>
          <p:cNvSpPr txBox="1"/>
          <p:nvPr/>
        </p:nvSpPr>
        <p:spPr>
          <a:xfrm>
            <a:off x="2286759" y="696659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衛星が勝手にくるくる回転してはいけない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BC2BB3E-12E8-1CB0-D889-9A1906F78525}"/>
              </a:ext>
            </a:extLst>
          </p:cNvPr>
          <p:cNvSpPr txBox="1"/>
          <p:nvPr/>
        </p:nvSpPr>
        <p:spPr>
          <a:xfrm>
            <a:off x="1722776" y="1050446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地上局にアンテナを向けた姿勢になるよう制御したい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219764D-772A-0C88-0822-93A447B344B0}"/>
              </a:ext>
            </a:extLst>
          </p:cNvPr>
          <p:cNvSpPr txBox="1"/>
          <p:nvPr/>
        </p:nvSpPr>
        <p:spPr>
          <a:xfrm>
            <a:off x="360218" y="297436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人工衛星の姿勢制御：</a:t>
            </a:r>
          </a:p>
        </p:txBody>
      </p:sp>
      <p:pic>
        <p:nvPicPr>
          <p:cNvPr id="5" name="画面録画 3">
            <a:hlinkClick r:id="" action="ppaction://media"/>
            <a:extLst>
              <a:ext uri="{FF2B5EF4-FFF2-40B4-BE49-F238E27FC236}">
                <a16:creationId xmlns:a16="http://schemas.microsoft.com/office/drawing/2014/main" id="{9F52C67B-CDBA-E7E9-F587-294AC7856F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18991" y="1483151"/>
            <a:ext cx="5196208" cy="360423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9C393B1-57B5-F196-E212-35F3BE6CCFC8}"/>
              </a:ext>
            </a:extLst>
          </p:cNvPr>
          <p:cNvSpPr txBox="1"/>
          <p:nvPr/>
        </p:nvSpPr>
        <p:spPr>
          <a:xfrm>
            <a:off x="1594262" y="5335422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コンピュータシミュレーション</a:t>
            </a:r>
            <a:r>
              <a:rPr lang="ja-JP" altLang="en-US" dirty="0"/>
              <a:t>によって</a:t>
            </a:r>
            <a:r>
              <a:rPr kumimoji="1" lang="ja-JP" altLang="en-US" dirty="0"/>
              <a:t>制御方法を検討中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74D1821-589E-82CD-2C80-62B2CB9A9C0F}"/>
              </a:ext>
            </a:extLst>
          </p:cNvPr>
          <p:cNvSpPr txBox="1"/>
          <p:nvPr/>
        </p:nvSpPr>
        <p:spPr>
          <a:xfrm>
            <a:off x="3124352" y="6375898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人工衛星の運動方程式</a:t>
            </a:r>
            <a:r>
              <a:rPr kumimoji="1" lang="ja-JP" altLang="en-US" dirty="0"/>
              <a:t>が必要</a:t>
            </a: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6C4ABB9B-B334-86A3-FF1A-41AF4F66AB51}"/>
              </a:ext>
            </a:extLst>
          </p:cNvPr>
          <p:cNvSpPr/>
          <p:nvPr/>
        </p:nvSpPr>
        <p:spPr>
          <a:xfrm rot="10800000">
            <a:off x="4428080" y="5727232"/>
            <a:ext cx="314037" cy="4341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083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ABCB96CD-DD8A-B354-BF2C-FB0CC0CE3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21" y="692457"/>
            <a:ext cx="7370625" cy="616554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791C19-C919-4BE8-A22C-5B311BCBE05B}"/>
              </a:ext>
            </a:extLst>
          </p:cNvPr>
          <p:cNvSpPr txBox="1"/>
          <p:nvPr/>
        </p:nvSpPr>
        <p:spPr>
          <a:xfrm>
            <a:off x="0" y="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人工衛星＝剛体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52A50B9-A346-6F75-7CEA-55D28688D29D}"/>
              </a:ext>
            </a:extLst>
          </p:cNvPr>
          <p:cNvSpPr txBox="1"/>
          <p:nvPr/>
        </p:nvSpPr>
        <p:spPr>
          <a:xfrm>
            <a:off x="2396837" y="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剛体の運動方程式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FDF7024-E979-603D-AEC6-BBADE4BE2720}"/>
              </a:ext>
            </a:extLst>
          </p:cNvPr>
          <p:cNvSpPr txBox="1"/>
          <p:nvPr/>
        </p:nvSpPr>
        <p:spPr>
          <a:xfrm>
            <a:off x="1884563" y="443161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「固定</a:t>
            </a:r>
            <a:r>
              <a:rPr kumimoji="1" lang="ja-JP" altLang="en-US" dirty="0">
                <a:solidFill>
                  <a:srgbClr val="FF0000"/>
                </a:solidFill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軸</a:t>
            </a:r>
            <a:r>
              <a:rPr lang="ja-JP" altLang="en-US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まわ</a:t>
            </a:r>
            <a:r>
              <a:rPr kumimoji="1" lang="ja-JP" altLang="en-US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り」と「固定</a:t>
            </a:r>
            <a:r>
              <a:rPr kumimoji="1" lang="ja-JP" altLang="en-US" dirty="0">
                <a:solidFill>
                  <a:srgbClr val="FF0000"/>
                </a:solidFill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点</a:t>
            </a:r>
            <a:r>
              <a:rPr kumimoji="1" lang="ja-JP" altLang="en-US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まわり」の違いは大きい！</a:t>
            </a:r>
          </a:p>
        </p:txBody>
      </p:sp>
    </p:spTree>
    <p:extLst>
      <p:ext uri="{BB962C8B-B14F-4D97-AF65-F5344CB8AC3E}">
        <p14:creationId xmlns:p14="http://schemas.microsoft.com/office/powerpoint/2010/main" val="2225297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FC35BED9-EEF6-508A-975A-E8F051DED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686" y="2852838"/>
            <a:ext cx="5958627" cy="183951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D48BA10-1867-89A4-244E-CB68A6865948}"/>
              </a:ext>
            </a:extLst>
          </p:cNvPr>
          <p:cNvSpPr txBox="1"/>
          <p:nvPr/>
        </p:nvSpPr>
        <p:spPr>
          <a:xfrm>
            <a:off x="1925993" y="360474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人工衛星</a:t>
            </a:r>
            <a:r>
              <a:rPr kumimoji="1" lang="ja-JP" altLang="en-US" sz="3600" dirty="0"/>
              <a:t>の運動方程式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7BB81BD-D815-A1B8-7A58-DF892ABE85CF}"/>
              </a:ext>
            </a:extLst>
          </p:cNvPr>
          <p:cNvSpPr txBox="1"/>
          <p:nvPr/>
        </p:nvSpPr>
        <p:spPr>
          <a:xfrm>
            <a:off x="1925993" y="1869938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「オイラーの運動方程式」</a:t>
            </a:r>
          </a:p>
        </p:txBody>
      </p:sp>
    </p:spTree>
    <p:extLst>
      <p:ext uri="{BB962C8B-B14F-4D97-AF65-F5344CB8AC3E}">
        <p14:creationId xmlns:p14="http://schemas.microsoft.com/office/powerpoint/2010/main" val="1992233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8155B12-0384-558B-B812-39BE19FC8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40" y="1242707"/>
            <a:ext cx="3989686" cy="2294819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0204491-4731-A8E7-45B2-C3F3885721E4}"/>
              </a:ext>
            </a:extLst>
          </p:cNvPr>
          <p:cNvSpPr txBox="1"/>
          <p:nvPr/>
        </p:nvSpPr>
        <p:spPr>
          <a:xfrm>
            <a:off x="2586182" y="277091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ベクトルの基礎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102720-73B5-21CA-F5B7-E64190FC7D20}"/>
              </a:ext>
            </a:extLst>
          </p:cNvPr>
          <p:cNvSpPr txBox="1"/>
          <p:nvPr/>
        </p:nvSpPr>
        <p:spPr>
          <a:xfrm>
            <a:off x="4655128" y="202078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点の運動を表すベクトルは簡単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3AC9C93-2E39-0F0C-3CEF-F3EC8CEDFC89}"/>
              </a:ext>
            </a:extLst>
          </p:cNvPr>
          <p:cNvSpPr txBox="1"/>
          <p:nvPr/>
        </p:nvSpPr>
        <p:spPr>
          <a:xfrm>
            <a:off x="1829764" y="4346381"/>
            <a:ext cx="5650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人工衛星の回転をベクトルで表現するには？</a:t>
            </a:r>
            <a:endParaRPr kumimoji="1" lang="ja-JP" altLang="en-US" sz="2000" dirty="0">
              <a:latin typeface="HG創英角ﾎﾟｯﾌﾟ体" panose="040B0A09000000000000" pitchFamily="49" charset="-128"/>
              <a:ea typeface="HG創英角ﾎﾟｯﾌﾟ体" panose="040B0A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329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8F10EB4-D956-DD2E-24B6-E8DA1BDD2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36" y="1150507"/>
            <a:ext cx="4125770" cy="209145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7460FC-DA88-9DD1-584A-334D0C6EA837}"/>
              </a:ext>
            </a:extLst>
          </p:cNvPr>
          <p:cNvSpPr txBox="1"/>
          <p:nvPr/>
        </p:nvSpPr>
        <p:spPr>
          <a:xfrm>
            <a:off x="832236" y="481622"/>
            <a:ext cx="651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+mn-ea"/>
              </a:rPr>
              <a:t>コマの回転をベクトルで表す方法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D89525-B5A0-3537-556B-926F61A02BD2}"/>
              </a:ext>
            </a:extLst>
          </p:cNvPr>
          <p:cNvSpPr txBox="1"/>
          <p:nvPr/>
        </p:nvSpPr>
        <p:spPr>
          <a:xfrm>
            <a:off x="4958006" y="2299855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渦（曲線）はベクトルではない！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F08F516-4DFE-03A2-A458-F07A6CC4B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35" y="3796145"/>
            <a:ext cx="4107483" cy="250073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5659004-62AD-7891-99F4-7BFCD8FAC3A8}"/>
              </a:ext>
            </a:extLst>
          </p:cNvPr>
          <p:cNvSpPr txBox="1"/>
          <p:nvPr/>
        </p:nvSpPr>
        <p:spPr>
          <a:xfrm>
            <a:off x="4939718" y="4206646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回転軸の方向をもつベクトルを使う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20F6EEB-2434-3815-18CD-295D66C6ADC5}"/>
              </a:ext>
            </a:extLst>
          </p:cNvPr>
          <p:cNvSpPr txBox="1"/>
          <p:nvPr/>
        </p:nvSpPr>
        <p:spPr>
          <a:xfrm>
            <a:off x="4939718" y="4682165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回転のスピードが速いほど</a:t>
            </a:r>
            <a:endParaRPr kumimoji="1" lang="en-US" altLang="ja-JP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r>
              <a:rPr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ベクトルを長くする</a:t>
            </a:r>
            <a:endParaRPr kumimoji="1" lang="ja-JP" altLang="en-US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81D8E8-3A95-42B1-936A-3AF133D18D08}"/>
              </a:ext>
            </a:extLst>
          </p:cNvPr>
          <p:cNvSpPr txBox="1"/>
          <p:nvPr/>
        </p:nvSpPr>
        <p:spPr>
          <a:xfrm>
            <a:off x="4495582" y="564705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800" b="1" dirty="0">
                <a:solidFill>
                  <a:srgbClr val="FF0000"/>
                </a:solidFill>
              </a:rPr>
              <a:t>回転軸と回転のスピード（角速度）を</a:t>
            </a:r>
            <a:endParaRPr kumimoji="1" lang="en-US" altLang="ja-JP" sz="1800" b="1" dirty="0">
              <a:solidFill>
                <a:srgbClr val="FF0000"/>
              </a:solidFill>
            </a:endParaRPr>
          </a:p>
          <a:p>
            <a:r>
              <a:rPr kumimoji="1" lang="ja-JP" altLang="en-US" sz="1800" b="1" dirty="0">
                <a:solidFill>
                  <a:srgbClr val="FF0000"/>
                </a:solidFill>
              </a:rPr>
              <a:t>角速度ベクトル </a:t>
            </a:r>
            <a:r>
              <a:rPr kumimoji="1" lang="en-US" altLang="ja-JP" sz="1800" b="1" dirty="0">
                <a:solidFill>
                  <a:srgbClr val="FF0000"/>
                </a:solidFill>
              </a:rPr>
              <a:t>ω</a:t>
            </a:r>
            <a:r>
              <a:rPr lang="ja-JP" altLang="en-US" b="1" dirty="0">
                <a:solidFill>
                  <a:srgbClr val="FF0000"/>
                </a:solidFill>
              </a:rPr>
              <a:t> で</a:t>
            </a:r>
            <a:r>
              <a:rPr kumimoji="1" lang="ja-JP" altLang="en-US" sz="1800" b="1" dirty="0">
                <a:solidFill>
                  <a:srgbClr val="FF0000"/>
                </a:solidFill>
              </a:rPr>
              <a:t>表現できる</a:t>
            </a:r>
            <a:endParaRPr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38A5221-5BED-764E-C819-1A4866C0C99D}"/>
              </a:ext>
            </a:extLst>
          </p:cNvPr>
          <p:cNvSpPr txBox="1"/>
          <p:nvPr/>
        </p:nvSpPr>
        <p:spPr>
          <a:xfrm>
            <a:off x="4495582" y="373112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角速度ベクトルの描き方：</a:t>
            </a:r>
          </a:p>
        </p:txBody>
      </p:sp>
    </p:spTree>
    <p:extLst>
      <p:ext uri="{BB962C8B-B14F-4D97-AF65-F5344CB8AC3E}">
        <p14:creationId xmlns:p14="http://schemas.microsoft.com/office/powerpoint/2010/main" val="3398127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1988AC4-6017-52A8-B2CA-F65D16282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226" y="919090"/>
            <a:ext cx="3121425" cy="183423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5D8E138-C8B0-9A05-0DE2-6D3AC1CB3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442" y="3065772"/>
            <a:ext cx="3718400" cy="226361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EA8E728-7611-694B-993C-96517F723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48" y="947499"/>
            <a:ext cx="3562320" cy="180583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D23B2A5-25FC-0003-9EDA-BD2270330D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06" y="3065772"/>
            <a:ext cx="3878311" cy="2361207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F01C053-7224-AED1-E409-ED4A913DC74F}"/>
              </a:ext>
            </a:extLst>
          </p:cNvPr>
          <p:cNvCxnSpPr>
            <a:cxnSpLocks/>
          </p:cNvCxnSpPr>
          <p:nvPr/>
        </p:nvCxnSpPr>
        <p:spPr>
          <a:xfrm>
            <a:off x="4635384" y="420134"/>
            <a:ext cx="3194" cy="5273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3E53A3E-88E7-0CF6-440D-A17B01AE6083}"/>
              </a:ext>
            </a:extLst>
          </p:cNvPr>
          <p:cNvSpPr txBox="1"/>
          <p:nvPr/>
        </p:nvSpPr>
        <p:spPr>
          <a:xfrm>
            <a:off x="1520454" y="5878947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同じ回転軸でも，回転の向きに応じてベクトルの向きを変える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3FC9D39-F993-ADDC-C69D-6CD92E83ECC3}"/>
              </a:ext>
            </a:extLst>
          </p:cNvPr>
          <p:cNvSpPr txBox="1"/>
          <p:nvPr/>
        </p:nvSpPr>
        <p:spPr>
          <a:xfrm>
            <a:off x="-174717" y="174734"/>
            <a:ext cx="93666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/>
              <a:t>「角速度ベクトル」</a:t>
            </a:r>
            <a:r>
              <a:rPr lang="ja-JP" altLang="en-US" sz="3200" b="1" dirty="0"/>
              <a:t>　</a:t>
            </a:r>
            <a:r>
              <a:rPr kumimoji="1" lang="ja-JP" altLang="en-US" dirty="0"/>
              <a:t>回転軸と回転のスピード（角速度）を表現できる</a:t>
            </a:r>
          </a:p>
        </p:txBody>
      </p:sp>
    </p:spTree>
    <p:extLst>
      <p:ext uri="{BB962C8B-B14F-4D97-AF65-F5344CB8AC3E}">
        <p14:creationId xmlns:p14="http://schemas.microsoft.com/office/powerpoint/2010/main" val="4216058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5FB7187-C3CB-E1BD-5002-3D5DA0F58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95" y="1542319"/>
            <a:ext cx="3705824" cy="213776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3E85E32-23C8-E993-9CF8-C19C1C31A5A5}"/>
              </a:ext>
            </a:extLst>
          </p:cNvPr>
          <p:cNvSpPr txBox="1"/>
          <p:nvPr/>
        </p:nvSpPr>
        <p:spPr>
          <a:xfrm>
            <a:off x="-174717" y="174734"/>
            <a:ext cx="80329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/>
              <a:t>「</a:t>
            </a:r>
            <a:r>
              <a:rPr lang="ja-JP" altLang="en-US" sz="3200" b="1" dirty="0"/>
              <a:t>トルク</a:t>
            </a:r>
            <a:r>
              <a:rPr kumimoji="1" lang="ja-JP" altLang="en-US" sz="3200" b="1" dirty="0"/>
              <a:t>ベクトル」</a:t>
            </a:r>
            <a:r>
              <a:rPr kumimoji="1" lang="ja-JP" altLang="en-US" dirty="0"/>
              <a:t>加えるトルクの軸と大きさを表現できる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B773B62-F215-8F4B-E296-56A5B3C80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96" y="4128655"/>
            <a:ext cx="3924692" cy="226000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99D6CC6-6DF8-232E-4D58-CFAB9A6CB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488" y="1493060"/>
            <a:ext cx="3805104" cy="2236283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5723B79-2D88-9928-D877-7B918ACB9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588" y="4128655"/>
            <a:ext cx="3918072" cy="2260005"/>
          </a:xfrm>
          <a:prstGeom prst="rect">
            <a:avLst/>
          </a:prstGeom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EE01E438-B1FA-B840-6E5E-3EB67DDDE565}"/>
              </a:ext>
            </a:extLst>
          </p:cNvPr>
          <p:cNvCxnSpPr/>
          <p:nvPr/>
        </p:nvCxnSpPr>
        <p:spPr>
          <a:xfrm>
            <a:off x="4541488" y="1256145"/>
            <a:ext cx="0" cy="5132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965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C8AF-0347-BBCA-E1EF-CD8A2681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BD91A616-0219-56F5-0BF7-8759E5D31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770" y="722794"/>
            <a:ext cx="5597235" cy="3068733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82A11A6-F88B-51DE-917A-6AB9240AED04}"/>
              </a:ext>
            </a:extLst>
          </p:cNvPr>
          <p:cNvSpPr txBox="1"/>
          <p:nvPr/>
        </p:nvSpPr>
        <p:spPr>
          <a:xfrm>
            <a:off x="1634836" y="169572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（１）</a:t>
            </a:r>
            <a:r>
              <a:rPr kumimoji="1" lang="ja-JP" altLang="en-US" sz="2800" dirty="0"/>
              <a:t>リアクションホイール</a:t>
            </a:r>
          </a:p>
        </p:txBody>
      </p:sp>
      <p:pic>
        <p:nvPicPr>
          <p:cNvPr id="4" name="人工衛星模型倒立 (1)">
            <a:hlinkClick r:id="" action="ppaction://media"/>
            <a:extLst>
              <a:ext uri="{FF2B5EF4-FFF2-40B4-BE49-F238E27FC236}">
                <a16:creationId xmlns:a16="http://schemas.microsoft.com/office/drawing/2014/main" id="{D8FB207D-63AD-720F-6D5E-030E072A033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725" y="862847"/>
            <a:ext cx="2653849" cy="4717954"/>
          </a:xfrm>
          <a:prstGeom prst="rect">
            <a:avLst/>
          </a:prstGeom>
        </p:spPr>
      </p:pic>
      <p:sp>
        <p:nvSpPr>
          <p:cNvPr id="5" name="左中かっこ 4">
            <a:extLst>
              <a:ext uri="{FF2B5EF4-FFF2-40B4-BE49-F238E27FC236}">
                <a16:creationId xmlns:a16="http://schemas.microsoft.com/office/drawing/2014/main" id="{28F476A9-5947-3AB5-5596-7D7A49343CAC}"/>
              </a:ext>
            </a:extLst>
          </p:cNvPr>
          <p:cNvSpPr/>
          <p:nvPr/>
        </p:nvSpPr>
        <p:spPr>
          <a:xfrm>
            <a:off x="6853382" y="2447636"/>
            <a:ext cx="155448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8487C082-B466-701A-7680-0DDD14F6C5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2770" y="3990109"/>
            <a:ext cx="6424852" cy="269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01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3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4A37777-F536-F06A-A3F2-EC62DA70F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90" y="1296685"/>
            <a:ext cx="7444509" cy="506255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6E8A3F9-59DC-5A71-0793-896E7B72E0D1}"/>
              </a:ext>
            </a:extLst>
          </p:cNvPr>
          <p:cNvSpPr txBox="1"/>
          <p:nvPr/>
        </p:nvSpPr>
        <p:spPr>
          <a:xfrm>
            <a:off x="655781" y="36021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運動方程式の意味</a:t>
            </a:r>
          </a:p>
        </p:txBody>
      </p:sp>
    </p:spTree>
    <p:extLst>
      <p:ext uri="{BB962C8B-B14F-4D97-AF65-F5344CB8AC3E}">
        <p14:creationId xmlns:p14="http://schemas.microsoft.com/office/powerpoint/2010/main" val="4280022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280EBC3-6AD2-4E15-34E2-28B103829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933" y="313394"/>
            <a:ext cx="6870133" cy="281773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BB00DA-34D7-39B6-1737-F8BAA101F7F7}"/>
              </a:ext>
            </a:extLst>
          </p:cNvPr>
          <p:cNvSpPr txBox="1"/>
          <p:nvPr/>
        </p:nvSpPr>
        <p:spPr>
          <a:xfrm>
            <a:off x="1201831" y="3833090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ベクトルの</a:t>
            </a:r>
            <a:r>
              <a:rPr kumimoji="1" lang="ja-JP" altLang="en-US" sz="2400" dirty="0">
                <a:solidFill>
                  <a:srgbClr val="0070C0"/>
                </a:solidFill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「外積」</a:t>
            </a:r>
            <a:r>
              <a:rPr kumimoji="1" lang="ja-JP" altLang="en-US" sz="2400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を理解しなければならない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DC5047-6225-FBDD-FC47-DA03B50B8DDE}"/>
              </a:ext>
            </a:extLst>
          </p:cNvPr>
          <p:cNvSpPr txBox="1"/>
          <p:nvPr/>
        </p:nvSpPr>
        <p:spPr>
          <a:xfrm>
            <a:off x="586278" y="4827966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0070C0"/>
                </a:solidFill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「外積」</a:t>
            </a:r>
            <a:r>
              <a:rPr kumimoji="1" lang="ja-JP" altLang="en-US" sz="2400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さえ分かれば人工衛星の制御はすべて分かる！</a:t>
            </a:r>
          </a:p>
        </p:txBody>
      </p:sp>
    </p:spTree>
    <p:extLst>
      <p:ext uri="{BB962C8B-B14F-4D97-AF65-F5344CB8AC3E}">
        <p14:creationId xmlns:p14="http://schemas.microsoft.com/office/powerpoint/2010/main" val="2433398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B6C6194-EC1E-9B6E-0E14-AF01C42541BD}"/>
              </a:ext>
            </a:extLst>
          </p:cNvPr>
          <p:cNvSpPr txBox="1"/>
          <p:nvPr/>
        </p:nvSpPr>
        <p:spPr>
          <a:xfrm>
            <a:off x="480291" y="26785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>
                <a:solidFill>
                  <a:srgbClr val="0070C0"/>
                </a:solidFill>
              </a:rPr>
              <a:t>「外積」</a:t>
            </a:r>
            <a:r>
              <a:rPr kumimoji="1" lang="ja-JP" altLang="en-US" sz="4000" dirty="0"/>
              <a:t>とは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08EA7E-37C0-F81D-68BF-4542AFB5F2F3}"/>
              </a:ext>
            </a:extLst>
          </p:cNvPr>
          <p:cNvSpPr txBox="1"/>
          <p:nvPr/>
        </p:nvSpPr>
        <p:spPr>
          <a:xfrm>
            <a:off x="2145695" y="6205920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solidFill>
                  <a:srgbClr val="0070C0"/>
                </a:solidFill>
                <a:latin typeface="HG創英角ﾎﾟｯﾌﾟ体" panose="040B0A09000000000000" pitchFamily="49" charset="-128"/>
                <a:ea typeface="HG創英角ﾎﾟｯﾌﾟ体" panose="040B0A09000000000000" pitchFamily="49" charset="-128"/>
                <a:cs typeface="ADLaM Display" panose="020F0502020204030204" pitchFamily="2" charset="0"/>
              </a:rPr>
              <a:t>「３つのベクトルの関係式」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A1D725E-0F7B-0243-B6F2-C431F17F1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34" y="1071304"/>
            <a:ext cx="8224520" cy="471539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689D751-4619-1ED9-31D3-36813864F7F9}"/>
              </a:ext>
            </a:extLst>
          </p:cNvPr>
          <p:cNvSpPr txBox="1"/>
          <p:nvPr/>
        </p:nvSpPr>
        <p:spPr>
          <a:xfrm>
            <a:off x="374534" y="5682700"/>
            <a:ext cx="880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solidFill>
                  <a:srgbClr val="0070C0"/>
                </a:solidFill>
                <a:latin typeface="HG創英角ﾎﾟｯﾌﾟ体" panose="040B0A09000000000000" pitchFamily="49" charset="-128"/>
                <a:ea typeface="HG創英角ﾎﾟｯﾌﾟ体" panose="040B0A09000000000000" pitchFamily="49" charset="-128"/>
                <a:cs typeface="ADLaM Display" panose="020F0502020204030204" pitchFamily="2" charset="0"/>
              </a:rPr>
              <a:t>「２つのベクトル</a:t>
            </a:r>
            <a:r>
              <a:rPr lang="ja-JP" altLang="en-US" sz="2800" dirty="0">
                <a:solidFill>
                  <a:srgbClr val="0070C0"/>
                </a:solidFill>
                <a:latin typeface="HG創英角ﾎﾟｯﾌﾟ体" panose="040B0A09000000000000" pitchFamily="49" charset="-128"/>
                <a:ea typeface="HG創英角ﾎﾟｯﾌﾟ体" panose="040B0A09000000000000" pitchFamily="49" charset="-128"/>
                <a:cs typeface="ADLaM Display" panose="020F0502020204030204" pitchFamily="2" charset="0"/>
              </a:rPr>
              <a:t>から３つめのベクトルを生み出す</a:t>
            </a:r>
            <a:r>
              <a:rPr kumimoji="1" lang="ja-JP" altLang="en-US" sz="2800" dirty="0">
                <a:solidFill>
                  <a:srgbClr val="0070C0"/>
                </a:solidFill>
                <a:latin typeface="HG創英角ﾎﾟｯﾌﾟ体" panose="040B0A09000000000000" pitchFamily="49" charset="-128"/>
                <a:ea typeface="HG創英角ﾎﾟｯﾌﾟ体" panose="040B0A09000000000000" pitchFamily="49" charset="-128"/>
                <a:cs typeface="ADLaM Display" panose="020F0502020204030204" pitchFamily="2" charset="0"/>
              </a:rPr>
              <a:t>」</a:t>
            </a:r>
          </a:p>
        </p:txBody>
      </p:sp>
    </p:spTree>
    <p:extLst>
      <p:ext uri="{BB962C8B-B14F-4D97-AF65-F5344CB8AC3E}">
        <p14:creationId xmlns:p14="http://schemas.microsoft.com/office/powerpoint/2010/main" val="2733541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8DEA3-3012-5BED-E34C-AA41AA85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FF5A8D9-499F-2ECB-1FDE-17BD6EB16495}"/>
              </a:ext>
            </a:extLst>
          </p:cNvPr>
          <p:cNvSpPr txBox="1"/>
          <p:nvPr/>
        </p:nvSpPr>
        <p:spPr>
          <a:xfrm>
            <a:off x="1209963" y="277091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>
                <a:solidFill>
                  <a:srgbClr val="0070C0"/>
                </a:solidFill>
              </a:rPr>
              <a:t>「外積」</a:t>
            </a:r>
            <a:r>
              <a:rPr lang="ja-JP" altLang="en-US" sz="4000" b="1" dirty="0">
                <a:solidFill>
                  <a:srgbClr val="0070C0"/>
                </a:solidFill>
              </a:rPr>
              <a:t>の性質</a:t>
            </a:r>
            <a:endParaRPr kumimoji="1" lang="ja-JP" altLang="en-US" sz="4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D3B1FFA-D59B-9984-8A2E-D0705033A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12" y="991440"/>
            <a:ext cx="6578369" cy="377159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B05526-78BB-5CED-B6FA-33ACB91EEA0E}"/>
              </a:ext>
            </a:extLst>
          </p:cNvPr>
          <p:cNvSpPr txBox="1"/>
          <p:nvPr/>
        </p:nvSpPr>
        <p:spPr>
          <a:xfrm>
            <a:off x="1566126" y="4668393"/>
            <a:ext cx="4807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a</a:t>
            </a:r>
            <a:r>
              <a:rPr kumimoji="1" lang="ja-JP" altLang="en-US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が大きいほど外積</a:t>
            </a:r>
            <a:r>
              <a:rPr lang="en-US" altLang="ja-JP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c</a:t>
            </a:r>
            <a:r>
              <a:rPr lang="ja-JP" altLang="en-US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は大きくなる</a:t>
            </a:r>
            <a:endParaRPr lang="en-US" altLang="ja-JP" sz="2400" dirty="0">
              <a:solidFill>
                <a:srgbClr val="0070C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66AB64-5039-B2B2-93ED-BA766927033A}"/>
              </a:ext>
            </a:extLst>
          </p:cNvPr>
          <p:cNvSpPr txBox="1"/>
          <p:nvPr/>
        </p:nvSpPr>
        <p:spPr>
          <a:xfrm>
            <a:off x="1566126" y="5130057"/>
            <a:ext cx="4809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b</a:t>
            </a:r>
            <a:r>
              <a:rPr kumimoji="1" lang="ja-JP" altLang="en-US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が大きいほど外積</a:t>
            </a:r>
            <a:r>
              <a:rPr kumimoji="1" lang="en-US" altLang="ja-JP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c</a:t>
            </a:r>
            <a:r>
              <a:rPr lang="ja-JP" altLang="en-US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は大きくなる</a:t>
            </a:r>
            <a:endParaRPr lang="en-US" altLang="ja-JP" sz="2400" dirty="0">
              <a:solidFill>
                <a:srgbClr val="0070C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58DC647-ECE3-9EDD-7030-FAA0FDCC6796}"/>
              </a:ext>
            </a:extLst>
          </p:cNvPr>
          <p:cNvSpPr txBox="1"/>
          <p:nvPr/>
        </p:nvSpPr>
        <p:spPr>
          <a:xfrm>
            <a:off x="1791854" y="5768386"/>
            <a:ext cx="49664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それだけでなく，</a:t>
            </a:r>
            <a:endParaRPr lang="en-US" altLang="ja-JP" sz="2400" dirty="0">
              <a:solidFill>
                <a:srgbClr val="0070C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r>
              <a:rPr lang="en-US" altLang="ja-JP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a</a:t>
            </a:r>
            <a:r>
              <a:rPr kumimoji="1" lang="ja-JP" altLang="en-US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と</a:t>
            </a:r>
            <a:r>
              <a:rPr lang="en-US" altLang="ja-JP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b</a:t>
            </a:r>
            <a:r>
              <a:rPr kumimoji="1" lang="ja-JP" altLang="en-US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の角度</a:t>
            </a:r>
            <a:r>
              <a:rPr kumimoji="1" lang="en-US" altLang="ja-JP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θ</a:t>
            </a:r>
            <a:r>
              <a:rPr kumimoji="1" lang="ja-JP" altLang="en-US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も外積</a:t>
            </a:r>
            <a:r>
              <a:rPr kumimoji="1" lang="en-US" altLang="ja-JP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c</a:t>
            </a:r>
            <a:r>
              <a:rPr kumimoji="1" lang="ja-JP" altLang="en-US" sz="24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に影響する！</a:t>
            </a:r>
          </a:p>
        </p:txBody>
      </p:sp>
    </p:spTree>
    <p:extLst>
      <p:ext uri="{BB962C8B-B14F-4D97-AF65-F5344CB8AC3E}">
        <p14:creationId xmlns:p14="http://schemas.microsoft.com/office/powerpoint/2010/main" val="3471285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F50D8CC-EE04-F6CA-71BF-40C5F4D99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633"/>
            <a:ext cx="9144000" cy="601873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DB03FF34-743B-0F88-4D96-CF988F6EA645}"/>
                  </a:ext>
                </a:extLst>
              </p14:cNvPr>
              <p14:cNvContentPartPr/>
              <p14:nvPr/>
            </p14:nvContentPartPr>
            <p14:xfrm>
              <a:off x="5910135" y="128349"/>
              <a:ext cx="21600" cy="324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DB03FF34-743B-0F88-4D96-CF988F6EA6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05815" y="124029"/>
                <a:ext cx="30240" cy="1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9120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238D4CD-CD8D-7506-698F-9C5FF16DD94F}"/>
              </a:ext>
            </a:extLst>
          </p:cNvPr>
          <p:cNvSpPr txBox="1"/>
          <p:nvPr/>
        </p:nvSpPr>
        <p:spPr>
          <a:xfrm>
            <a:off x="888940" y="1173018"/>
            <a:ext cx="66479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回転に関係する３つのベクトルの関係を</a:t>
            </a:r>
            <a:endParaRPr kumimoji="1" lang="en-US" altLang="ja-JP" sz="2800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r>
              <a:rPr kumimoji="1" lang="ja-JP" altLang="en-US" sz="28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うまく表現できる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9A3C7B-404D-904E-CFE9-1E48518C4877}"/>
              </a:ext>
            </a:extLst>
          </p:cNvPr>
          <p:cNvSpPr txBox="1"/>
          <p:nvPr/>
        </p:nvSpPr>
        <p:spPr>
          <a:xfrm>
            <a:off x="1209963" y="277091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「外積」</a:t>
            </a:r>
            <a:r>
              <a:rPr lang="ja-JP" altLang="en-US" sz="4000" b="1" dirty="0"/>
              <a:t>のいいところ</a:t>
            </a:r>
            <a:endParaRPr kumimoji="1" lang="ja-JP" altLang="en-US" sz="4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C08F44-1832-DEA2-9208-3BD4359EB269}"/>
              </a:ext>
            </a:extLst>
          </p:cNvPr>
          <p:cNvSpPr txBox="1"/>
          <p:nvPr/>
        </p:nvSpPr>
        <p:spPr>
          <a:xfrm>
            <a:off x="229403" y="304462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例えば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1890087-632A-A7B4-BFB9-14A1001EA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237" y="1731404"/>
            <a:ext cx="4557142" cy="463286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488FF78-AF70-14ED-8A66-1702347C3E50}"/>
              </a:ext>
            </a:extLst>
          </p:cNvPr>
          <p:cNvSpPr txBox="1"/>
          <p:nvPr/>
        </p:nvSpPr>
        <p:spPr>
          <a:xfrm>
            <a:off x="229403" y="3755450"/>
            <a:ext cx="51315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力</a:t>
            </a:r>
            <a:r>
              <a:rPr kumimoji="1" lang="en-US" altLang="ja-JP" sz="3200" dirty="0"/>
              <a:t>F</a:t>
            </a:r>
            <a:r>
              <a:rPr lang="ja-JP" altLang="en-US" sz="3200" dirty="0"/>
              <a:t> </a:t>
            </a:r>
            <a:r>
              <a:rPr lang="en-US" altLang="ja-JP" sz="3200" dirty="0"/>
              <a:t>,</a:t>
            </a:r>
            <a:r>
              <a:rPr lang="ja-JP" altLang="en-US" sz="3200" dirty="0"/>
              <a:t> </a:t>
            </a:r>
            <a:r>
              <a:rPr kumimoji="1" lang="ja-JP" altLang="en-US" sz="3200" dirty="0"/>
              <a:t>位置</a:t>
            </a:r>
            <a:r>
              <a:rPr kumimoji="1" lang="en-US" altLang="ja-JP" sz="3200" dirty="0"/>
              <a:t>r</a:t>
            </a:r>
            <a:r>
              <a:rPr lang="ja-JP" altLang="en-US" sz="3200" dirty="0"/>
              <a:t> </a:t>
            </a:r>
            <a:r>
              <a:rPr lang="en-US" altLang="ja-JP" sz="3200" dirty="0"/>
              <a:t>,</a:t>
            </a:r>
            <a:r>
              <a:rPr lang="ja-JP" altLang="en-US" sz="3200" dirty="0"/>
              <a:t> </a:t>
            </a:r>
            <a:r>
              <a:rPr kumimoji="1" lang="ja-JP" altLang="en-US" sz="3200" dirty="0"/>
              <a:t>トルク</a:t>
            </a:r>
            <a:r>
              <a:rPr kumimoji="1" lang="en-US" altLang="ja-JP" sz="3200" dirty="0"/>
              <a:t>τ  </a:t>
            </a:r>
            <a:r>
              <a:rPr kumimoji="1" lang="ja-JP" altLang="en-US" sz="3200" dirty="0"/>
              <a:t>の関係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A4276CE-43DF-B35D-FD1E-22118D4540C7}"/>
              </a:ext>
            </a:extLst>
          </p:cNvPr>
          <p:cNvSpPr txBox="1"/>
          <p:nvPr/>
        </p:nvSpPr>
        <p:spPr>
          <a:xfrm>
            <a:off x="1504493" y="6175107"/>
            <a:ext cx="58865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位置</a:t>
            </a:r>
            <a:r>
              <a:rPr kumimoji="1" lang="en-US" altLang="ja-JP" sz="2800" dirty="0"/>
              <a:t>r</a:t>
            </a:r>
            <a:r>
              <a:rPr lang="ja-JP" altLang="en-US" sz="2800" dirty="0"/>
              <a:t> と力</a:t>
            </a:r>
            <a:r>
              <a:rPr lang="en-US" altLang="ja-JP" sz="2800" dirty="0"/>
              <a:t>F</a:t>
            </a:r>
            <a:r>
              <a:rPr lang="ja-JP" altLang="en-US" sz="2800" dirty="0"/>
              <a:t>の</a:t>
            </a:r>
            <a:r>
              <a:rPr lang="ja-JP" altLang="en-US" sz="2800" b="1" dirty="0">
                <a:solidFill>
                  <a:srgbClr val="0070C0"/>
                </a:solidFill>
              </a:rPr>
              <a:t>外積</a:t>
            </a:r>
            <a:r>
              <a:rPr lang="ja-JP" altLang="en-US" sz="2800" dirty="0"/>
              <a:t>が </a:t>
            </a:r>
            <a:r>
              <a:rPr kumimoji="1" lang="ja-JP" altLang="en-US" sz="2800" dirty="0"/>
              <a:t>トルク</a:t>
            </a:r>
            <a:r>
              <a:rPr kumimoji="1" lang="en-US" altLang="ja-JP" sz="2800" dirty="0"/>
              <a:t>τ </a:t>
            </a:r>
            <a:r>
              <a:rPr kumimoji="1" lang="ja-JP" altLang="en-US" sz="2800" dirty="0"/>
              <a:t>になる</a:t>
            </a:r>
          </a:p>
        </p:txBody>
      </p:sp>
    </p:spTree>
    <p:extLst>
      <p:ext uri="{BB962C8B-B14F-4D97-AF65-F5344CB8AC3E}">
        <p14:creationId xmlns:p14="http://schemas.microsoft.com/office/powerpoint/2010/main" val="3611281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9D87E8F-2ABA-EF11-D31B-902B154ACBBE}"/>
              </a:ext>
            </a:extLst>
          </p:cNvPr>
          <p:cNvSpPr txBox="1"/>
          <p:nvPr/>
        </p:nvSpPr>
        <p:spPr>
          <a:xfrm>
            <a:off x="2910322" y="583345"/>
            <a:ext cx="5370268" cy="4164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7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コーヒー豆をひく</a:t>
            </a: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1C283E1-949F-CFD7-40C0-C88B38FF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888" y="2756285"/>
            <a:ext cx="4693363" cy="363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42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3F212D9-A4E2-030F-5651-B3B14E8BB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2688"/>
            <a:ext cx="9144000" cy="451262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1238DF7-B773-171D-E652-298F3B8FBAF2}"/>
              </a:ext>
            </a:extLst>
          </p:cNvPr>
          <p:cNvSpPr txBox="1"/>
          <p:nvPr/>
        </p:nvSpPr>
        <p:spPr>
          <a:xfrm>
            <a:off x="905164" y="277092"/>
            <a:ext cx="5747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力</a:t>
            </a:r>
            <a:r>
              <a:rPr kumimoji="1" lang="en-US" altLang="ja-JP" sz="3600" dirty="0"/>
              <a:t>F</a:t>
            </a:r>
            <a:r>
              <a:rPr lang="ja-JP" altLang="en-US" sz="3600" dirty="0"/>
              <a:t> </a:t>
            </a:r>
            <a:r>
              <a:rPr lang="en-US" altLang="ja-JP" sz="3600" dirty="0"/>
              <a:t>,</a:t>
            </a:r>
            <a:r>
              <a:rPr lang="ja-JP" altLang="en-US" sz="3600" dirty="0"/>
              <a:t> </a:t>
            </a:r>
            <a:r>
              <a:rPr kumimoji="1" lang="ja-JP" altLang="en-US" sz="3600" dirty="0"/>
              <a:t>位置</a:t>
            </a:r>
            <a:r>
              <a:rPr kumimoji="1" lang="en-US" altLang="ja-JP" sz="3600" dirty="0"/>
              <a:t>r</a:t>
            </a:r>
            <a:r>
              <a:rPr lang="ja-JP" altLang="en-US" sz="3600" dirty="0"/>
              <a:t> </a:t>
            </a:r>
            <a:r>
              <a:rPr lang="en-US" altLang="ja-JP" sz="3600" dirty="0"/>
              <a:t>,</a:t>
            </a:r>
            <a:r>
              <a:rPr lang="ja-JP" altLang="en-US" sz="3600" dirty="0"/>
              <a:t> </a:t>
            </a:r>
            <a:r>
              <a:rPr kumimoji="1" lang="ja-JP" altLang="en-US" sz="3600" dirty="0"/>
              <a:t>トルク</a:t>
            </a:r>
            <a:r>
              <a:rPr kumimoji="1" lang="en-US" altLang="ja-JP" sz="3600" dirty="0"/>
              <a:t>τ  </a:t>
            </a:r>
            <a:r>
              <a:rPr kumimoji="1" lang="ja-JP" altLang="en-US" sz="3600" dirty="0"/>
              <a:t>の関係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F1C3BEB-B318-A65C-9CD4-2082DD7C23A3}"/>
              </a:ext>
            </a:extLst>
          </p:cNvPr>
          <p:cNvSpPr txBox="1"/>
          <p:nvPr/>
        </p:nvSpPr>
        <p:spPr>
          <a:xfrm>
            <a:off x="2178747" y="5699495"/>
            <a:ext cx="58865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位置</a:t>
            </a:r>
            <a:r>
              <a:rPr kumimoji="1" lang="en-US" altLang="ja-JP" sz="2800" dirty="0"/>
              <a:t>r</a:t>
            </a:r>
            <a:r>
              <a:rPr lang="ja-JP" altLang="en-US" sz="2800" dirty="0"/>
              <a:t> と力</a:t>
            </a:r>
            <a:r>
              <a:rPr lang="en-US" altLang="ja-JP" sz="2800" dirty="0"/>
              <a:t>F</a:t>
            </a:r>
            <a:r>
              <a:rPr lang="ja-JP" altLang="en-US" sz="2800" dirty="0"/>
              <a:t>の</a:t>
            </a:r>
            <a:r>
              <a:rPr lang="ja-JP" altLang="en-US" sz="2800" b="1" dirty="0">
                <a:solidFill>
                  <a:srgbClr val="0070C0"/>
                </a:solidFill>
              </a:rPr>
              <a:t>外積</a:t>
            </a:r>
            <a:r>
              <a:rPr lang="ja-JP" altLang="en-US" sz="2800" dirty="0"/>
              <a:t>が </a:t>
            </a:r>
            <a:r>
              <a:rPr kumimoji="1" lang="ja-JP" altLang="en-US" sz="2800" dirty="0"/>
              <a:t>トルク</a:t>
            </a:r>
            <a:r>
              <a:rPr kumimoji="1" lang="en-US" altLang="ja-JP" sz="2800" dirty="0"/>
              <a:t>τ </a:t>
            </a:r>
            <a:r>
              <a:rPr kumimoji="1" lang="ja-JP" altLang="en-US" sz="2800" dirty="0"/>
              <a:t>になる</a:t>
            </a:r>
          </a:p>
        </p:txBody>
      </p:sp>
    </p:spTree>
    <p:extLst>
      <p:ext uri="{BB962C8B-B14F-4D97-AF65-F5344CB8AC3E}">
        <p14:creationId xmlns:p14="http://schemas.microsoft.com/office/powerpoint/2010/main" val="2909568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DD161255-F6F9-BC8C-2A29-27A00FD60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27" y="727801"/>
            <a:ext cx="7883237" cy="5084564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4B38A3E-E87B-21D6-6DBC-DB26BF4DF044}"/>
              </a:ext>
            </a:extLst>
          </p:cNvPr>
          <p:cNvSpPr txBox="1"/>
          <p:nvPr/>
        </p:nvSpPr>
        <p:spPr>
          <a:xfrm>
            <a:off x="139082" y="-61495"/>
            <a:ext cx="88585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方位磁針の磁気</a:t>
            </a:r>
            <a:r>
              <a:rPr lang="en-US" altLang="ja-JP" sz="3200" dirty="0"/>
              <a:t>m,</a:t>
            </a:r>
            <a:r>
              <a:rPr lang="ja-JP" altLang="en-US" sz="3200" dirty="0"/>
              <a:t> 地磁気</a:t>
            </a:r>
            <a:r>
              <a:rPr lang="en-US" altLang="ja-JP" sz="3200" dirty="0"/>
              <a:t>B ,</a:t>
            </a:r>
            <a:r>
              <a:rPr lang="ja-JP" altLang="en-US" sz="3200" dirty="0"/>
              <a:t> </a:t>
            </a:r>
            <a:r>
              <a:rPr kumimoji="1" lang="ja-JP" altLang="en-US" sz="3200" dirty="0"/>
              <a:t>回転トルク</a:t>
            </a:r>
            <a:r>
              <a:rPr kumimoji="1" lang="en-US" altLang="ja-JP" sz="3200" dirty="0"/>
              <a:t>τ </a:t>
            </a:r>
            <a:r>
              <a:rPr kumimoji="1" lang="ja-JP" altLang="en-US" sz="3200" dirty="0"/>
              <a:t>の関係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8CE616F-54BA-C125-E36E-8204820CE8EA}"/>
              </a:ext>
            </a:extLst>
          </p:cNvPr>
          <p:cNvSpPr txBox="1"/>
          <p:nvPr/>
        </p:nvSpPr>
        <p:spPr>
          <a:xfrm>
            <a:off x="1173018" y="5893775"/>
            <a:ext cx="70214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方位磁針の磁気モーメントｍ と地磁気 </a:t>
            </a:r>
            <a:r>
              <a:rPr kumimoji="1" lang="en-US" altLang="ja-JP" sz="2400" dirty="0"/>
              <a:t>B </a:t>
            </a:r>
            <a:r>
              <a:rPr kumimoji="1" lang="ja-JP" altLang="en-US" sz="2400" dirty="0"/>
              <a:t>の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外積</a:t>
            </a:r>
            <a:r>
              <a:rPr kumimoji="1" lang="ja-JP" altLang="en-US" sz="2400" dirty="0"/>
              <a:t>が</a:t>
            </a:r>
            <a:endParaRPr kumimoji="1" lang="en-US" altLang="ja-JP" sz="2400" dirty="0"/>
          </a:p>
          <a:p>
            <a:r>
              <a:rPr lang="ja-JP" altLang="en-US" sz="2400" dirty="0"/>
              <a:t>磁針を回転させるトルク </a:t>
            </a:r>
            <a:r>
              <a:rPr lang="en-US" altLang="ja-JP" sz="2400" dirty="0"/>
              <a:t>τ </a:t>
            </a:r>
            <a:r>
              <a:rPr lang="ja-JP" altLang="en-US" sz="2400" dirty="0"/>
              <a:t>になる．</a:t>
            </a:r>
            <a:endParaRPr kumimoji="1" lang="ja-JP" alt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インク 3">
                <a:extLst>
                  <a:ext uri="{FF2B5EF4-FFF2-40B4-BE49-F238E27FC236}">
                    <a16:creationId xmlns:a16="http://schemas.microsoft.com/office/drawing/2014/main" id="{4D6A9BDF-1BD9-928F-2E19-46715CE16C91}"/>
                  </a:ext>
                </a:extLst>
              </p14:cNvPr>
              <p14:cNvContentPartPr/>
              <p14:nvPr/>
            </p14:nvContentPartPr>
            <p14:xfrm>
              <a:off x="4505778" y="3972429"/>
              <a:ext cx="360" cy="15120"/>
            </p14:xfrm>
          </p:contentPart>
        </mc:Choice>
        <mc:Fallback xmlns="">
          <p:pic>
            <p:nvPicPr>
              <p:cNvPr id="4" name="インク 3">
                <a:extLst>
                  <a:ext uri="{FF2B5EF4-FFF2-40B4-BE49-F238E27FC236}">
                    <a16:creationId xmlns:a16="http://schemas.microsoft.com/office/drawing/2014/main" id="{4D6A9BDF-1BD9-928F-2E19-46715CE16C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9658" y="3966309"/>
                <a:ext cx="12600" cy="2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396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85EA5D7-B58E-FE0B-9822-04208C6613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89" r="20040" b="1"/>
          <a:stretch>
            <a:fillRect/>
          </a:stretch>
        </p:blipFill>
        <p:spPr>
          <a:xfrm>
            <a:off x="64675" y="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8C58474-792B-30D9-04C7-281FF3A953C9}"/>
              </a:ext>
            </a:extLst>
          </p:cNvPr>
          <p:cNvSpPr/>
          <p:nvPr/>
        </p:nvSpPr>
        <p:spPr>
          <a:xfrm>
            <a:off x="5778421" y="1674669"/>
            <a:ext cx="295465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レコード</a:t>
            </a:r>
            <a:endParaRPr lang="en-US" altLang="ja-JP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algn="ctr"/>
            <a:r>
              <a:rPr lang="ja-JP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で音楽を</a:t>
            </a:r>
            <a:endParaRPr lang="en-US" altLang="ja-JP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73217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5F1B41E-7DB4-0BEC-F817-C80543444D11}"/>
              </a:ext>
            </a:extLst>
          </p:cNvPr>
          <p:cNvSpPr txBox="1"/>
          <p:nvPr/>
        </p:nvSpPr>
        <p:spPr>
          <a:xfrm>
            <a:off x="175489" y="274099"/>
            <a:ext cx="8459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回転体の角速度</a:t>
            </a:r>
            <a:r>
              <a:rPr kumimoji="1" lang="en-US" altLang="ja-JP" sz="2800" dirty="0"/>
              <a:t>ω</a:t>
            </a:r>
            <a:r>
              <a:rPr lang="ja-JP" altLang="en-US" sz="2800" dirty="0"/>
              <a:t> </a:t>
            </a:r>
            <a:r>
              <a:rPr lang="en-US" altLang="ja-JP" sz="2800" dirty="0"/>
              <a:t>,</a:t>
            </a:r>
            <a:r>
              <a:rPr lang="ja-JP" altLang="en-US" sz="2800" dirty="0"/>
              <a:t> </a:t>
            </a:r>
            <a:r>
              <a:rPr kumimoji="1" lang="ja-JP" altLang="en-US" sz="2800" dirty="0"/>
              <a:t>位置</a:t>
            </a:r>
            <a:r>
              <a:rPr kumimoji="1" lang="en-US" altLang="ja-JP" sz="2800" dirty="0"/>
              <a:t>r </a:t>
            </a:r>
            <a:r>
              <a:rPr lang="en-US" altLang="ja-JP" sz="2800" dirty="0"/>
              <a:t>, </a:t>
            </a:r>
            <a:r>
              <a:rPr lang="ja-JP" altLang="en-US" sz="2800" dirty="0"/>
              <a:t>  </a:t>
            </a:r>
            <a:r>
              <a:rPr kumimoji="1" lang="ja-JP" altLang="en-US" sz="2800" dirty="0"/>
              <a:t>その位置の速度 </a:t>
            </a:r>
            <a:r>
              <a:rPr kumimoji="1" lang="en-US" altLang="ja-JP" sz="2800" dirty="0"/>
              <a:t>v  </a:t>
            </a:r>
            <a:r>
              <a:rPr kumimoji="1" lang="ja-JP" altLang="en-US" sz="2800" dirty="0"/>
              <a:t>の関係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5DD789A-6FD8-C57A-8FB4-EEB5BCFA2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50" y="923269"/>
            <a:ext cx="7438644" cy="501146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3E898-1B33-37D5-6AC0-2E38A472F805}"/>
              </a:ext>
            </a:extLst>
          </p:cNvPr>
          <p:cNvSpPr txBox="1"/>
          <p:nvPr/>
        </p:nvSpPr>
        <p:spPr>
          <a:xfrm>
            <a:off x="1256028" y="5934731"/>
            <a:ext cx="6631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角速度 </a:t>
            </a:r>
            <a:r>
              <a:rPr kumimoji="1" lang="en-US" altLang="ja-JP" sz="2800" dirty="0"/>
              <a:t>ω</a:t>
            </a:r>
            <a:r>
              <a:rPr lang="ja-JP" altLang="en-US" sz="2800" dirty="0"/>
              <a:t> </a:t>
            </a:r>
            <a:r>
              <a:rPr lang="en-US" altLang="ja-JP" sz="2800" dirty="0"/>
              <a:t>, </a:t>
            </a:r>
            <a:r>
              <a:rPr kumimoji="1" lang="ja-JP" altLang="en-US" sz="2800" dirty="0"/>
              <a:t>位置</a:t>
            </a:r>
            <a:r>
              <a:rPr kumimoji="1" lang="en-US" altLang="ja-JP" sz="2800" dirty="0"/>
              <a:t>r</a:t>
            </a:r>
            <a:r>
              <a:rPr lang="ja-JP" altLang="en-US" sz="2800" dirty="0"/>
              <a:t> の</a:t>
            </a:r>
            <a:r>
              <a:rPr lang="ja-JP" altLang="en-US" sz="2800" b="1" dirty="0">
                <a:solidFill>
                  <a:srgbClr val="0070C0"/>
                </a:solidFill>
              </a:rPr>
              <a:t>外積</a:t>
            </a:r>
            <a:r>
              <a:rPr lang="ja-JP" altLang="en-US" sz="2800" dirty="0"/>
              <a:t>が 速度 </a:t>
            </a:r>
            <a:r>
              <a:rPr lang="en-US" altLang="ja-JP" sz="2800" dirty="0"/>
              <a:t>v </a:t>
            </a:r>
            <a:r>
              <a:rPr kumimoji="1" lang="ja-JP" altLang="en-US" sz="2800" dirty="0"/>
              <a:t>になる</a:t>
            </a:r>
          </a:p>
        </p:txBody>
      </p:sp>
    </p:spTree>
    <p:extLst>
      <p:ext uri="{BB962C8B-B14F-4D97-AF65-F5344CB8AC3E}">
        <p14:creationId xmlns:p14="http://schemas.microsoft.com/office/powerpoint/2010/main" val="2108370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インク 1">
                <a:extLst>
                  <a:ext uri="{FF2B5EF4-FFF2-40B4-BE49-F238E27FC236}">
                    <a16:creationId xmlns:a16="http://schemas.microsoft.com/office/drawing/2014/main" id="{1CD0B266-E7F8-FAC0-54D8-EE16DA9C40CF}"/>
                  </a:ext>
                </a:extLst>
              </p14:cNvPr>
              <p14:cNvContentPartPr/>
              <p14:nvPr/>
            </p14:nvContentPartPr>
            <p14:xfrm>
              <a:off x="2266938" y="5923989"/>
              <a:ext cx="15120" cy="1080"/>
            </p14:xfrm>
          </p:contentPart>
        </mc:Choice>
        <mc:Fallback xmlns="">
          <p:pic>
            <p:nvPicPr>
              <p:cNvPr id="2" name="インク 1">
                <a:extLst>
                  <a:ext uri="{FF2B5EF4-FFF2-40B4-BE49-F238E27FC236}">
                    <a16:creationId xmlns:a16="http://schemas.microsoft.com/office/drawing/2014/main" id="{1CD0B266-E7F8-FAC0-54D8-EE16DA9C40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62618" y="5919669"/>
                <a:ext cx="23760" cy="972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D98DFAE8-3727-A2D1-400B-58F09C342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047" y="366285"/>
            <a:ext cx="7925906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17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09362-5E9B-F2BA-E611-300BED08C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1651AA3-DBB2-CE47-3191-8C9090ECE371}"/>
              </a:ext>
            </a:extLst>
          </p:cNvPr>
          <p:cNvSpPr txBox="1"/>
          <p:nvPr/>
        </p:nvSpPr>
        <p:spPr>
          <a:xfrm>
            <a:off x="888940" y="1173018"/>
            <a:ext cx="66479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回転に関係する３つのベクトルの関係を</a:t>
            </a:r>
            <a:endParaRPr kumimoji="1" lang="en-US" altLang="ja-JP" sz="2800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r>
              <a:rPr kumimoji="1" lang="ja-JP" altLang="en-US" sz="28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うまく表現できる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C9714D-80F3-A805-6333-55D4055CA12E}"/>
              </a:ext>
            </a:extLst>
          </p:cNvPr>
          <p:cNvSpPr txBox="1"/>
          <p:nvPr/>
        </p:nvSpPr>
        <p:spPr>
          <a:xfrm>
            <a:off x="1209963" y="277091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「外積」</a:t>
            </a:r>
            <a:r>
              <a:rPr lang="ja-JP" altLang="en-US" sz="4000" b="1" dirty="0"/>
              <a:t>のいいところ</a:t>
            </a:r>
            <a:endParaRPr kumimoji="1" lang="ja-JP" altLang="en-US" sz="4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EA6B64-0346-AAE1-3BD1-3639BF3E7D69}"/>
              </a:ext>
            </a:extLst>
          </p:cNvPr>
          <p:cNvSpPr txBox="1"/>
          <p:nvPr/>
        </p:nvSpPr>
        <p:spPr>
          <a:xfrm>
            <a:off x="2588191" y="6104603"/>
            <a:ext cx="5514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角速度 </a:t>
            </a:r>
            <a:r>
              <a:rPr kumimoji="1" lang="en-US" altLang="ja-JP" sz="2400" dirty="0"/>
              <a:t>ω</a:t>
            </a:r>
            <a:r>
              <a:rPr lang="ja-JP" altLang="en-US" sz="2400" dirty="0"/>
              <a:t> </a:t>
            </a:r>
            <a:r>
              <a:rPr lang="en-US" altLang="ja-JP" sz="2400" dirty="0"/>
              <a:t>, </a:t>
            </a:r>
            <a:r>
              <a:rPr kumimoji="1" lang="ja-JP" altLang="en-US" sz="2400" dirty="0"/>
              <a:t>位置</a:t>
            </a:r>
            <a:r>
              <a:rPr kumimoji="1" lang="en-US" altLang="ja-JP" sz="2400" dirty="0"/>
              <a:t>r</a:t>
            </a:r>
            <a:r>
              <a:rPr lang="ja-JP" altLang="en-US" sz="2400" dirty="0"/>
              <a:t> の</a:t>
            </a:r>
            <a:r>
              <a:rPr lang="ja-JP" altLang="en-US" sz="2400" b="1" dirty="0">
                <a:solidFill>
                  <a:srgbClr val="0070C0"/>
                </a:solidFill>
              </a:rPr>
              <a:t>外積</a:t>
            </a:r>
            <a:r>
              <a:rPr lang="ja-JP" altLang="en-US" sz="2400" dirty="0"/>
              <a:t>が 速度 </a:t>
            </a:r>
            <a:r>
              <a:rPr lang="en-US" altLang="ja-JP" sz="2400" dirty="0"/>
              <a:t>v </a:t>
            </a:r>
            <a:r>
              <a:rPr kumimoji="1" lang="ja-JP" altLang="en-US" sz="2400" dirty="0"/>
              <a:t>になる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E3A6B29-746B-BE0E-AECB-539D0A1DEF81}"/>
              </a:ext>
            </a:extLst>
          </p:cNvPr>
          <p:cNvSpPr txBox="1"/>
          <p:nvPr/>
        </p:nvSpPr>
        <p:spPr>
          <a:xfrm>
            <a:off x="2011123" y="4424891"/>
            <a:ext cx="70214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方位磁針の磁気モーメントｍ と地磁気 </a:t>
            </a:r>
            <a:r>
              <a:rPr kumimoji="1" lang="en-US" altLang="ja-JP" sz="2400" dirty="0"/>
              <a:t>B </a:t>
            </a:r>
            <a:r>
              <a:rPr kumimoji="1" lang="ja-JP" altLang="en-US" sz="2400" dirty="0"/>
              <a:t>の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外積</a:t>
            </a:r>
            <a:r>
              <a:rPr kumimoji="1" lang="ja-JP" altLang="en-US" sz="2400" dirty="0"/>
              <a:t>が</a:t>
            </a:r>
            <a:endParaRPr kumimoji="1" lang="en-US" altLang="ja-JP" sz="2400" dirty="0"/>
          </a:p>
          <a:p>
            <a:r>
              <a:rPr lang="ja-JP" altLang="en-US" sz="2400" dirty="0"/>
              <a:t>磁針を回転させるトルク </a:t>
            </a:r>
            <a:r>
              <a:rPr lang="en-US" altLang="ja-JP" sz="2400" dirty="0"/>
              <a:t>τ </a:t>
            </a:r>
            <a:r>
              <a:rPr lang="ja-JP" altLang="en-US" sz="2400" dirty="0"/>
              <a:t>になる．</a:t>
            </a:r>
            <a:endParaRPr kumimoji="1" lang="ja-JP" altLang="en-US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E4E1A8B-2156-7215-5419-4085B4246799}"/>
              </a:ext>
            </a:extLst>
          </p:cNvPr>
          <p:cNvSpPr txBox="1"/>
          <p:nvPr/>
        </p:nvSpPr>
        <p:spPr>
          <a:xfrm>
            <a:off x="2429470" y="3024435"/>
            <a:ext cx="5067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位置</a:t>
            </a:r>
            <a:r>
              <a:rPr kumimoji="1" lang="en-US" altLang="ja-JP" sz="2400" dirty="0"/>
              <a:t>r</a:t>
            </a:r>
            <a:r>
              <a:rPr lang="ja-JP" altLang="en-US" sz="2400" dirty="0"/>
              <a:t> と力</a:t>
            </a:r>
            <a:r>
              <a:rPr lang="en-US" altLang="ja-JP" sz="2400" dirty="0"/>
              <a:t>F</a:t>
            </a:r>
            <a:r>
              <a:rPr lang="ja-JP" altLang="en-US" sz="2400" dirty="0"/>
              <a:t>の</a:t>
            </a:r>
            <a:r>
              <a:rPr lang="ja-JP" altLang="en-US" sz="2400" b="1" dirty="0">
                <a:solidFill>
                  <a:srgbClr val="0070C0"/>
                </a:solidFill>
              </a:rPr>
              <a:t>外積</a:t>
            </a:r>
            <a:r>
              <a:rPr lang="ja-JP" altLang="en-US" sz="2400" dirty="0"/>
              <a:t>が </a:t>
            </a:r>
            <a:r>
              <a:rPr kumimoji="1" lang="ja-JP" altLang="en-US" sz="2400" dirty="0"/>
              <a:t>トルク</a:t>
            </a:r>
            <a:r>
              <a:rPr kumimoji="1" lang="en-US" altLang="ja-JP" sz="2400" dirty="0"/>
              <a:t>τ </a:t>
            </a:r>
            <a:r>
              <a:rPr kumimoji="1" lang="ja-JP" altLang="en-US" sz="2400" dirty="0"/>
              <a:t>になる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484E5C89-1DB6-6A48-1376-22C9E77C7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74" y="3686741"/>
            <a:ext cx="3334215" cy="504895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02127471-43B7-4A8E-B5CC-D58D667B7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21" y="5211987"/>
            <a:ext cx="2981741" cy="695422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4C89D2B9-8513-65A9-34BC-CBD3F0005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037" y="2255590"/>
            <a:ext cx="2810267" cy="60968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26D0F21-35DA-536B-F523-C8978447314C}"/>
              </a:ext>
            </a:extLst>
          </p:cNvPr>
          <p:cNvSpPr txBox="1"/>
          <p:nvPr/>
        </p:nvSpPr>
        <p:spPr>
          <a:xfrm>
            <a:off x="3945146" y="5452008"/>
            <a:ext cx="338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← この式</a:t>
            </a:r>
            <a:r>
              <a:rPr lang="en-US" altLang="ja-JP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,</a:t>
            </a:r>
            <a:r>
              <a:rPr lang="ja-JP" altLang="en-US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 少し後で</a:t>
            </a:r>
            <a:r>
              <a:rPr kumimoji="1" lang="ja-JP" altLang="en-US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使います！</a:t>
            </a:r>
          </a:p>
        </p:txBody>
      </p:sp>
    </p:spTree>
    <p:extLst>
      <p:ext uri="{BB962C8B-B14F-4D97-AF65-F5344CB8AC3E}">
        <p14:creationId xmlns:p14="http://schemas.microsoft.com/office/powerpoint/2010/main" val="1827767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168EC-A75A-E349-EE16-DED5793F5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3F8B79D6-CF74-AB89-96B7-75DF002B6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686" y="2852838"/>
            <a:ext cx="5958627" cy="183951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79AA9E9-A6C1-BD44-A94D-A7DBDCBBC26B}"/>
              </a:ext>
            </a:extLst>
          </p:cNvPr>
          <p:cNvSpPr txBox="1"/>
          <p:nvPr/>
        </p:nvSpPr>
        <p:spPr>
          <a:xfrm>
            <a:off x="1925993" y="360474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人工衛星</a:t>
            </a:r>
            <a:r>
              <a:rPr kumimoji="1" lang="ja-JP" altLang="en-US" sz="3600" dirty="0"/>
              <a:t>の運動方程式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5C27D71-4A99-F1A1-D1CB-F734DACC9E97}"/>
              </a:ext>
            </a:extLst>
          </p:cNvPr>
          <p:cNvSpPr txBox="1"/>
          <p:nvPr/>
        </p:nvSpPr>
        <p:spPr>
          <a:xfrm>
            <a:off x="1925993" y="1869938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「オイラーの運動方程式」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8A03DA-ADCE-0F4B-7FBB-FB236DC8DA4E}"/>
              </a:ext>
            </a:extLst>
          </p:cNvPr>
          <p:cNvSpPr txBox="1"/>
          <p:nvPr/>
        </p:nvSpPr>
        <p:spPr>
          <a:xfrm>
            <a:off x="1068476" y="5312153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「静止座標系」と「機体座標系」について</a:t>
            </a:r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BF5AAFBC-A6B2-EF3D-9F37-F35D32E0931F}"/>
              </a:ext>
            </a:extLst>
          </p:cNvPr>
          <p:cNvSpPr/>
          <p:nvPr/>
        </p:nvSpPr>
        <p:spPr>
          <a:xfrm>
            <a:off x="4128655" y="4692355"/>
            <a:ext cx="249381" cy="3981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8ABEDDAC-E64B-19C2-8340-57D707582981}"/>
              </a:ext>
            </a:extLst>
          </p:cNvPr>
          <p:cNvSpPr/>
          <p:nvPr/>
        </p:nvSpPr>
        <p:spPr>
          <a:xfrm>
            <a:off x="4128655" y="6057046"/>
            <a:ext cx="249381" cy="3981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4358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CE45B421-B067-3F94-476E-E2FF8E03E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807" y="3712424"/>
            <a:ext cx="2320698" cy="212657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3B44DD-524F-B111-FF66-2C1C31FF9767}"/>
              </a:ext>
            </a:extLst>
          </p:cNvPr>
          <p:cNvSpPr txBox="1"/>
          <p:nvPr/>
        </p:nvSpPr>
        <p:spPr>
          <a:xfrm>
            <a:off x="461818" y="1593365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単なる矢印ではなく，</a:t>
            </a:r>
            <a:endParaRPr kumimoji="1" lang="en-US" altLang="ja-JP" sz="2400" dirty="0"/>
          </a:p>
          <a:p>
            <a:r>
              <a:rPr kumimoji="1" lang="ja-JP" altLang="en-US" sz="2400" dirty="0"/>
              <a:t>矢印の成分を数値化したい（大きさや角度を数値で表したい）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FD4208-6A8E-C13D-773C-C0C74AF712F7}"/>
              </a:ext>
            </a:extLst>
          </p:cNvPr>
          <p:cNvSpPr txBox="1"/>
          <p:nvPr/>
        </p:nvSpPr>
        <p:spPr>
          <a:xfrm>
            <a:off x="461818" y="2854185"/>
            <a:ext cx="8349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座標系（原点と</a:t>
            </a:r>
            <a:r>
              <a:rPr kumimoji="1" lang="en-US" altLang="ja-JP" sz="2400" dirty="0"/>
              <a:t>x, y, z </a:t>
            </a:r>
            <a:r>
              <a:rPr kumimoji="1" lang="ja-JP" altLang="en-US" sz="2400" dirty="0"/>
              <a:t>の座標軸）の中で ベクトル </a:t>
            </a:r>
            <a:r>
              <a:rPr lang="ja-JP" altLang="en-US" sz="2400" dirty="0"/>
              <a:t>を考える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089DC9-03FB-BFF5-E1CD-34B20541643C}"/>
              </a:ext>
            </a:extLst>
          </p:cNvPr>
          <p:cNvSpPr txBox="1"/>
          <p:nvPr/>
        </p:nvSpPr>
        <p:spPr>
          <a:xfrm>
            <a:off x="1125957" y="4432183"/>
            <a:ext cx="39955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原点は衛星の中心にとる．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x, y, z </a:t>
            </a:r>
            <a:r>
              <a:rPr lang="ja-JP" altLang="en-US" sz="2400" b="1" dirty="0">
                <a:solidFill>
                  <a:srgbClr val="0070C0"/>
                </a:solidFill>
              </a:rPr>
              <a:t>軸をどう設定するか？</a:t>
            </a:r>
            <a:endParaRPr kumimoji="1" lang="ja-JP" altLang="en-US" sz="2400" b="1" dirty="0">
              <a:solidFill>
                <a:srgbClr val="0070C0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9625F5-76BC-3B02-277A-B5F6EA0114A0}"/>
              </a:ext>
            </a:extLst>
          </p:cNvPr>
          <p:cNvSpPr txBox="1"/>
          <p:nvPr/>
        </p:nvSpPr>
        <p:spPr>
          <a:xfrm>
            <a:off x="572655" y="312119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座標系の設定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23C7F9E-D098-92CF-D56D-E9022F659927}"/>
              </a:ext>
            </a:extLst>
          </p:cNvPr>
          <p:cNvSpPr txBox="1"/>
          <p:nvPr/>
        </p:nvSpPr>
        <p:spPr>
          <a:xfrm>
            <a:off x="686495" y="5777437"/>
            <a:ext cx="7879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運動を観察している人間の立場（立ち位置）をどこに設定するか？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B12506BE-1C43-73B8-B7D7-37205668A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055" y="275204"/>
            <a:ext cx="4528359" cy="16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56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A209DAE-6687-7E55-4A59-5528B2C4D679}"/>
              </a:ext>
            </a:extLst>
          </p:cNvPr>
          <p:cNvSpPr txBox="1"/>
          <p:nvPr/>
        </p:nvSpPr>
        <p:spPr>
          <a:xfrm>
            <a:off x="539104" y="3624544"/>
            <a:ext cx="80842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「静止座標系 </a:t>
            </a:r>
            <a:r>
              <a:rPr kumimoji="1" lang="en-US" altLang="ja-JP" sz="2000" dirty="0"/>
              <a:t>XYZ</a:t>
            </a:r>
            <a:r>
              <a:rPr kumimoji="1" lang="ja-JP" altLang="en-US" sz="2000" dirty="0"/>
              <a:t>（白）」：衛星の姿勢を表現する座標系</a:t>
            </a:r>
            <a:endParaRPr kumimoji="1" lang="en-US" altLang="ja-JP" sz="2000" dirty="0"/>
          </a:p>
          <a:p>
            <a:r>
              <a:rPr lang="ja-JP" altLang="en-US" sz="2000" dirty="0"/>
              <a:t>　　　　　　　　       　　　</a:t>
            </a:r>
            <a:r>
              <a:rPr kumimoji="1" lang="ja-JP" altLang="en-US" sz="2000" dirty="0"/>
              <a:t>衛星が回転しても静止している</a:t>
            </a:r>
            <a:endParaRPr kumimoji="1" lang="en-US" altLang="ja-JP" sz="2000" dirty="0"/>
          </a:p>
          <a:p>
            <a:r>
              <a:rPr lang="ja-JP" altLang="en-US" sz="2000" dirty="0"/>
              <a:t>　　　　　　　　        　　　</a:t>
            </a:r>
            <a:r>
              <a:rPr kumimoji="1" lang="ja-JP" altLang="en-US" sz="2000" dirty="0"/>
              <a:t>衛星が回転しても観察者は静止している</a:t>
            </a:r>
            <a:endParaRPr kumimoji="1" lang="en-US" altLang="ja-JP" sz="2000" dirty="0"/>
          </a:p>
          <a:p>
            <a:r>
              <a:rPr lang="ja-JP" altLang="en-US" sz="2000" dirty="0"/>
              <a:t>　　　　　　　　    　　　</a:t>
            </a:r>
            <a:r>
              <a:rPr kumimoji="1" lang="ja-JP" altLang="en-US" sz="2000" dirty="0"/>
              <a:t>（衛星の外から見ている視点）</a:t>
            </a:r>
            <a:endParaRPr kumimoji="1" lang="en-US" altLang="ja-JP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2F12AC-5C3D-892F-AEA2-D25F215515DF}"/>
              </a:ext>
            </a:extLst>
          </p:cNvPr>
          <p:cNvSpPr txBox="1"/>
          <p:nvPr/>
        </p:nvSpPr>
        <p:spPr>
          <a:xfrm>
            <a:off x="0" y="93430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「静止座標系」と「機体座標系」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FFB062-E000-0B5E-47EA-A80EB8FCCDB5}"/>
              </a:ext>
            </a:extLst>
          </p:cNvPr>
          <p:cNvSpPr txBox="1"/>
          <p:nvPr/>
        </p:nvSpPr>
        <p:spPr>
          <a:xfrm>
            <a:off x="645513" y="5173277"/>
            <a:ext cx="69108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「機体座標系 </a:t>
            </a:r>
            <a:r>
              <a:rPr kumimoji="1" lang="en-US" altLang="ja-JP" sz="2000" dirty="0" err="1">
                <a:solidFill>
                  <a:srgbClr val="FF0000"/>
                </a:solidFill>
              </a:rPr>
              <a:t>x</a:t>
            </a:r>
            <a:r>
              <a:rPr kumimoji="1" lang="en-US" altLang="ja-JP" sz="2000" dirty="0" err="1">
                <a:solidFill>
                  <a:srgbClr val="00B050"/>
                </a:solidFill>
              </a:rPr>
              <a:t>y</a:t>
            </a:r>
            <a:r>
              <a:rPr kumimoji="1" lang="en-US" altLang="ja-JP" sz="2000" dirty="0" err="1">
                <a:solidFill>
                  <a:srgbClr val="0070C0"/>
                </a:solidFill>
              </a:rPr>
              <a:t>z</a:t>
            </a:r>
            <a:r>
              <a:rPr kumimoji="1" lang="ja-JP" altLang="en-US" sz="2000" dirty="0"/>
              <a:t>」：座標軸が衛星に固定されいてる．</a:t>
            </a:r>
            <a:endParaRPr kumimoji="1" lang="en-US" altLang="ja-JP" sz="2000" dirty="0"/>
          </a:p>
          <a:p>
            <a:r>
              <a:rPr lang="en-US" altLang="ja-JP" sz="2000" dirty="0"/>
              <a:t>		         </a:t>
            </a:r>
            <a:r>
              <a:rPr lang="ja-JP" altLang="en-US" sz="2000" dirty="0"/>
              <a:t>衛星が回転すると座標軸も回転する．</a:t>
            </a:r>
            <a:endParaRPr kumimoji="1" lang="en-US" altLang="ja-JP" sz="2000" dirty="0"/>
          </a:p>
          <a:p>
            <a:r>
              <a:rPr lang="ja-JP" altLang="en-US" sz="2000" dirty="0"/>
              <a:t>　　　　　　　　     </a:t>
            </a:r>
            <a:r>
              <a:rPr kumimoji="1" lang="ja-JP" altLang="en-US" sz="2000" dirty="0"/>
              <a:t>衛星とともに観察者も回転する</a:t>
            </a:r>
            <a:endParaRPr kumimoji="1" lang="en-US" altLang="ja-JP" sz="2000" dirty="0"/>
          </a:p>
          <a:p>
            <a:r>
              <a:rPr lang="ja-JP" altLang="en-US" sz="2000" dirty="0"/>
              <a:t>　　　　　　　　   </a:t>
            </a:r>
            <a:r>
              <a:rPr kumimoji="1" lang="ja-JP" altLang="en-US" sz="2000" dirty="0"/>
              <a:t>（衛星に乗っている人の視点）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CF00FAE-9A9D-7B2F-0B1F-5149B76DB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965" y="797671"/>
            <a:ext cx="2610543" cy="235470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5AE805B-A708-63CF-68AA-8136102C4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69" y="787373"/>
            <a:ext cx="2610543" cy="233259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41BA75FD-1A8E-4112-EAA7-1C0B8D190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562" y="872695"/>
            <a:ext cx="2458114" cy="233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46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7D42-27F6-F6E7-8C7E-D09FA8733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5CD3A92-C90E-2C27-7FDB-73E81D5408AB}"/>
              </a:ext>
            </a:extLst>
          </p:cNvPr>
          <p:cNvSpPr txBox="1"/>
          <p:nvPr/>
        </p:nvSpPr>
        <p:spPr>
          <a:xfrm>
            <a:off x="114689" y="4273222"/>
            <a:ext cx="888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「静止座標系」では 　　</a:t>
            </a:r>
            <a:r>
              <a:rPr lang="ja-JP" altLang="en-US" sz="2800" dirty="0"/>
              <a:t>　　　　　　　と書かれる．</a:t>
            </a:r>
            <a:endParaRPr lang="en-US" altLang="ja-JP" sz="2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DD46D13-9AED-F144-553F-4A4EE4A82E9C}"/>
              </a:ext>
            </a:extLst>
          </p:cNvPr>
          <p:cNvSpPr txBox="1"/>
          <p:nvPr/>
        </p:nvSpPr>
        <p:spPr>
          <a:xfrm>
            <a:off x="230909" y="398971"/>
            <a:ext cx="9020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剛体</a:t>
            </a:r>
            <a:r>
              <a:rPr kumimoji="1" lang="ja-JP" altLang="en-US" sz="2400" b="1" dirty="0"/>
              <a:t>の運動法則：「トルク </a:t>
            </a:r>
            <a:r>
              <a:rPr kumimoji="1" lang="en-US" altLang="ja-JP" sz="2400" b="1" dirty="0"/>
              <a:t>τ</a:t>
            </a:r>
            <a:r>
              <a:rPr lang="ja-JP" altLang="en-US" sz="2400" b="1" dirty="0"/>
              <a:t> をかけると</a:t>
            </a:r>
            <a:r>
              <a:rPr kumimoji="1" lang="ja-JP" altLang="en-US" sz="2400" b="1" dirty="0"/>
              <a:t>角運動量 </a:t>
            </a:r>
            <a:r>
              <a:rPr kumimoji="1" lang="en-US" altLang="ja-JP" sz="2400" b="1" dirty="0"/>
              <a:t>L </a:t>
            </a:r>
            <a:r>
              <a:rPr kumimoji="1" lang="ja-JP" altLang="en-US" sz="2400" b="1" dirty="0"/>
              <a:t>が変化する」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9380AC8-950E-B5E8-EFB5-487BA530CAE9}"/>
              </a:ext>
            </a:extLst>
          </p:cNvPr>
          <p:cNvSpPr txBox="1"/>
          <p:nvPr/>
        </p:nvSpPr>
        <p:spPr>
          <a:xfrm>
            <a:off x="2247604" y="3505096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これを式で</a:t>
            </a:r>
            <a:r>
              <a:rPr lang="ja-JP" altLang="en-US" dirty="0"/>
              <a:t>書いた</a:t>
            </a:r>
            <a:r>
              <a:rPr kumimoji="1" lang="ja-JP" altLang="en-US" dirty="0"/>
              <a:t>のが運動方程式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CE45BD9-6972-3F58-00C4-D420295E6AFC}"/>
              </a:ext>
            </a:extLst>
          </p:cNvPr>
          <p:cNvSpPr txBox="1"/>
          <p:nvPr/>
        </p:nvSpPr>
        <p:spPr>
          <a:xfrm>
            <a:off x="699827" y="5879831"/>
            <a:ext cx="8135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人工衛星の制御を考えるには「機体座標系」の運動方程式が欲しい！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インク 1">
                <a:extLst>
                  <a:ext uri="{FF2B5EF4-FFF2-40B4-BE49-F238E27FC236}">
                    <a16:creationId xmlns:a16="http://schemas.microsoft.com/office/drawing/2014/main" id="{55A68AC1-3688-E2CF-DB02-470A5F44DA88}"/>
                  </a:ext>
                </a:extLst>
              </p14:cNvPr>
              <p14:cNvContentPartPr/>
              <p14:nvPr/>
            </p14:nvContentPartPr>
            <p14:xfrm>
              <a:off x="4355298" y="1112229"/>
              <a:ext cx="360" cy="29880"/>
            </p14:xfrm>
          </p:contentPart>
        </mc:Choice>
        <mc:Fallback xmlns="">
          <p:pic>
            <p:nvPicPr>
              <p:cNvPr id="2" name="インク 1">
                <a:extLst>
                  <a:ext uri="{FF2B5EF4-FFF2-40B4-BE49-F238E27FC236}">
                    <a16:creationId xmlns:a16="http://schemas.microsoft.com/office/drawing/2014/main" id="{55A68AC1-3688-E2CF-DB02-470A5F44DA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9178" y="1106109"/>
                <a:ext cx="12600" cy="4212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CBD1F171-2C7E-7D97-D131-8D5498473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632" y="860636"/>
            <a:ext cx="4409931" cy="249226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FF9246D-9B35-491A-F455-44D890D4B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309" y="3944188"/>
            <a:ext cx="2674943" cy="1004108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9F7E8C4-5E39-F1A9-A079-A4F81D2076DA}"/>
              </a:ext>
            </a:extLst>
          </p:cNvPr>
          <p:cNvSpPr txBox="1"/>
          <p:nvPr/>
        </p:nvSpPr>
        <p:spPr>
          <a:xfrm>
            <a:off x="114689" y="5347090"/>
            <a:ext cx="4657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「</a:t>
            </a:r>
            <a:r>
              <a:rPr kumimoji="1" lang="ja-JP" altLang="en-US" sz="2800" b="1" dirty="0">
                <a:solidFill>
                  <a:srgbClr val="0070C0"/>
                </a:solidFill>
              </a:rPr>
              <a:t>機体座標系</a:t>
            </a:r>
            <a:r>
              <a:rPr kumimoji="1" lang="ja-JP" altLang="en-US" sz="2800" dirty="0"/>
              <a:t>」では  </a:t>
            </a:r>
            <a:r>
              <a:rPr kumimoji="1" lang="ja-JP" altLang="en-US" sz="2800" dirty="0">
                <a:solidFill>
                  <a:srgbClr val="0070C0"/>
                </a:solidFill>
              </a:rPr>
              <a:t>？？？</a:t>
            </a:r>
          </a:p>
        </p:txBody>
      </p:sp>
    </p:spTree>
    <p:extLst>
      <p:ext uri="{BB962C8B-B14F-4D97-AF65-F5344CB8AC3E}">
        <p14:creationId xmlns:p14="http://schemas.microsoft.com/office/powerpoint/2010/main" val="3612595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4C79BD72-BE54-CB08-C0B4-E4809C9B5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067" y="2679158"/>
            <a:ext cx="3333469" cy="1025683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3F01CF-F132-C2B0-4FD2-64E3E853FD56}"/>
              </a:ext>
            </a:extLst>
          </p:cNvPr>
          <p:cNvSpPr txBox="1"/>
          <p:nvPr/>
        </p:nvSpPr>
        <p:spPr>
          <a:xfrm>
            <a:off x="504220" y="201773"/>
            <a:ext cx="8135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人工衛星の制御を考えるには「機体座標系」の運動方程式が欲しい！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527D12-E277-7E53-7AC5-6D0D94B8A175}"/>
              </a:ext>
            </a:extLst>
          </p:cNvPr>
          <p:cNvSpPr txBox="1"/>
          <p:nvPr/>
        </p:nvSpPr>
        <p:spPr>
          <a:xfrm>
            <a:off x="3094539" y="672473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なぜなら・・・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4408E8C-0954-1C75-A37C-58834417C5CC}"/>
              </a:ext>
            </a:extLst>
          </p:cNvPr>
          <p:cNvSpPr txBox="1"/>
          <p:nvPr/>
        </p:nvSpPr>
        <p:spPr>
          <a:xfrm>
            <a:off x="296337" y="1369950"/>
            <a:ext cx="66559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「慣性テンソル </a:t>
            </a:r>
            <a:r>
              <a:rPr kumimoji="1" lang="en-US" altLang="ja-JP" sz="20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J </a:t>
            </a:r>
            <a:r>
              <a:rPr kumimoji="1" lang="ja-JP" altLang="en-US" sz="20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を姿勢と無関係な定数行列にしたい」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2643879-1EB0-EF1D-C226-2128D21B56CE}"/>
              </a:ext>
            </a:extLst>
          </p:cNvPr>
          <p:cNvSpPr txBox="1"/>
          <p:nvPr/>
        </p:nvSpPr>
        <p:spPr>
          <a:xfrm>
            <a:off x="296337" y="4613940"/>
            <a:ext cx="55964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「</a:t>
            </a:r>
            <a:r>
              <a:rPr kumimoji="1" lang="ja-JP" altLang="en-US" sz="20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トルクベクトル</a:t>
            </a:r>
            <a:r>
              <a:rPr kumimoji="1"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 </a:t>
            </a:r>
            <a:r>
              <a:rPr kumimoji="1" lang="en-US" altLang="ja-JP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τ </a:t>
            </a:r>
            <a:r>
              <a:rPr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を</a:t>
            </a:r>
            <a:r>
              <a:rPr kumimoji="1"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機体座標系で表現したい」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F79EADC-30CC-48FD-B8A6-693803F84308}"/>
              </a:ext>
            </a:extLst>
          </p:cNvPr>
          <p:cNvSpPr txBox="1"/>
          <p:nvPr/>
        </p:nvSpPr>
        <p:spPr>
          <a:xfrm>
            <a:off x="765633" y="5167938"/>
            <a:ext cx="6878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トルクを発生するアクチュエータは機体にくっ付いている．</a:t>
            </a:r>
            <a:endParaRPr lang="en-US" altLang="ja-JP" dirty="0"/>
          </a:p>
          <a:p>
            <a:r>
              <a:rPr kumimoji="1" lang="ja-JP" altLang="en-US" dirty="0"/>
              <a:t>自動車で「ハンドルを右に」，飛行機で「尾翼を左に」と同様に</a:t>
            </a:r>
            <a:endParaRPr kumimoji="1" lang="en-US" altLang="ja-JP" dirty="0"/>
          </a:p>
          <a:p>
            <a:r>
              <a:rPr lang="ja-JP" altLang="en-US" dirty="0"/>
              <a:t>機体の制御には機体座標での指示を与えたい．</a:t>
            </a:r>
            <a:endParaRPr kumimoji="1" lang="en-US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DD7428E-E0FF-7C33-B3B9-A4F6856BEABA}"/>
              </a:ext>
            </a:extLst>
          </p:cNvPr>
          <p:cNvSpPr txBox="1"/>
          <p:nvPr/>
        </p:nvSpPr>
        <p:spPr>
          <a:xfrm>
            <a:off x="765633" y="3132861"/>
            <a:ext cx="73404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J</a:t>
            </a:r>
            <a:r>
              <a:rPr lang="ja-JP" altLang="en-US" dirty="0"/>
              <a:t>は機体の形状と質量分布で決まる行列．</a:t>
            </a:r>
            <a:endParaRPr lang="en-US" altLang="ja-JP" dirty="0"/>
          </a:p>
          <a:p>
            <a:r>
              <a:rPr lang="ja-JP" altLang="en-US" dirty="0"/>
              <a:t>機体座標系で計算すれば定数行列になる</a:t>
            </a:r>
            <a:endParaRPr lang="en-US" altLang="ja-JP" dirty="0"/>
          </a:p>
          <a:p>
            <a:r>
              <a:rPr lang="ja-JP" altLang="en-US" dirty="0"/>
              <a:t>（静止座標系だと座標軸に対する衛星の形状・質量分布が変化して，</a:t>
            </a:r>
            <a:endParaRPr lang="en-US" altLang="ja-JP" dirty="0"/>
          </a:p>
          <a:p>
            <a:r>
              <a:rPr lang="ja-JP" altLang="en-US" dirty="0"/>
              <a:t>　姿勢が変わるごとに </a:t>
            </a:r>
            <a:r>
              <a:rPr lang="en-US" altLang="ja-JP" dirty="0"/>
              <a:t>J </a:t>
            </a:r>
            <a:r>
              <a:rPr lang="ja-JP" altLang="en-US" dirty="0"/>
              <a:t>も変わってしまう）</a:t>
            </a: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B38B045E-2470-4FB0-6CB7-2A458F3E9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17" y="1869232"/>
            <a:ext cx="5966691" cy="84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78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25D9F-5FA7-BF0F-5C76-C0DEA9EC3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87F622-9A26-4D29-B4C7-A765F7931E71}"/>
              </a:ext>
            </a:extLst>
          </p:cNvPr>
          <p:cNvSpPr txBox="1"/>
          <p:nvPr/>
        </p:nvSpPr>
        <p:spPr>
          <a:xfrm>
            <a:off x="114689" y="4273222"/>
            <a:ext cx="888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「静止座標系」では 　　</a:t>
            </a:r>
            <a:r>
              <a:rPr lang="ja-JP" altLang="en-US" sz="2800" dirty="0"/>
              <a:t>　　　　　　　と書かれる．</a:t>
            </a:r>
            <a:endParaRPr lang="en-US" altLang="ja-JP" sz="2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B1AC633-71A4-7906-55CE-28C5C8ACBFA3}"/>
              </a:ext>
            </a:extLst>
          </p:cNvPr>
          <p:cNvSpPr txBox="1"/>
          <p:nvPr/>
        </p:nvSpPr>
        <p:spPr>
          <a:xfrm>
            <a:off x="230909" y="398971"/>
            <a:ext cx="9020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剛体</a:t>
            </a:r>
            <a:r>
              <a:rPr kumimoji="1" lang="ja-JP" altLang="en-US" sz="2400" b="1" dirty="0"/>
              <a:t>の運動法則：「トルク </a:t>
            </a:r>
            <a:r>
              <a:rPr kumimoji="1" lang="en-US" altLang="ja-JP" sz="2400" b="1" dirty="0"/>
              <a:t>τ</a:t>
            </a:r>
            <a:r>
              <a:rPr lang="ja-JP" altLang="en-US" sz="2400" b="1" dirty="0"/>
              <a:t> をかけると</a:t>
            </a:r>
            <a:r>
              <a:rPr kumimoji="1" lang="ja-JP" altLang="en-US" sz="2400" b="1" dirty="0"/>
              <a:t>角運動量 </a:t>
            </a:r>
            <a:r>
              <a:rPr kumimoji="1" lang="en-US" altLang="ja-JP" sz="2400" b="1" dirty="0"/>
              <a:t>L </a:t>
            </a:r>
            <a:r>
              <a:rPr kumimoji="1" lang="ja-JP" altLang="en-US" sz="2400" b="1" dirty="0"/>
              <a:t>が変化する」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F2D405E-75F4-3192-BB32-30D7F15BDEC8}"/>
              </a:ext>
            </a:extLst>
          </p:cNvPr>
          <p:cNvSpPr txBox="1"/>
          <p:nvPr/>
        </p:nvSpPr>
        <p:spPr>
          <a:xfrm>
            <a:off x="2247604" y="3505096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これを式で</a:t>
            </a:r>
            <a:r>
              <a:rPr lang="ja-JP" altLang="en-US" dirty="0"/>
              <a:t>書いた</a:t>
            </a:r>
            <a:r>
              <a:rPr kumimoji="1" lang="ja-JP" altLang="en-US" dirty="0"/>
              <a:t>のが運動方程式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2BE152A-8418-A78D-94AE-759C51E849AA}"/>
              </a:ext>
            </a:extLst>
          </p:cNvPr>
          <p:cNvSpPr txBox="1"/>
          <p:nvPr/>
        </p:nvSpPr>
        <p:spPr>
          <a:xfrm>
            <a:off x="699827" y="5879831"/>
            <a:ext cx="8135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rgbClr val="0070C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人工衛星の制御を考えるには「機体座標系」の運動方程式が欲しい！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インク 1">
                <a:extLst>
                  <a:ext uri="{FF2B5EF4-FFF2-40B4-BE49-F238E27FC236}">
                    <a16:creationId xmlns:a16="http://schemas.microsoft.com/office/drawing/2014/main" id="{2AC55A84-D4FC-7FDC-9ACE-18F1508EF620}"/>
                  </a:ext>
                </a:extLst>
              </p14:cNvPr>
              <p14:cNvContentPartPr/>
              <p14:nvPr/>
            </p14:nvContentPartPr>
            <p14:xfrm>
              <a:off x="4355298" y="1112229"/>
              <a:ext cx="360" cy="29880"/>
            </p14:xfrm>
          </p:contentPart>
        </mc:Choice>
        <mc:Fallback xmlns="">
          <p:pic>
            <p:nvPicPr>
              <p:cNvPr id="2" name="インク 1">
                <a:extLst>
                  <a:ext uri="{FF2B5EF4-FFF2-40B4-BE49-F238E27FC236}">
                    <a16:creationId xmlns:a16="http://schemas.microsoft.com/office/drawing/2014/main" id="{2AC55A84-D4FC-7FDC-9ACE-18F1508EF6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9178" y="1106109"/>
                <a:ext cx="12600" cy="4212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8866D8B1-DD79-ED74-1C31-8CFFFB691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632" y="860636"/>
            <a:ext cx="4409931" cy="249226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B18989F-7EE0-506A-21E5-BF20ABC41F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309" y="3944188"/>
            <a:ext cx="2674943" cy="1004108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35F388D-DE2E-1047-96A6-3CCEF790B840}"/>
              </a:ext>
            </a:extLst>
          </p:cNvPr>
          <p:cNvSpPr txBox="1"/>
          <p:nvPr/>
        </p:nvSpPr>
        <p:spPr>
          <a:xfrm>
            <a:off x="114689" y="5347090"/>
            <a:ext cx="4657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「</a:t>
            </a:r>
            <a:r>
              <a:rPr kumimoji="1" lang="ja-JP" altLang="en-US" sz="2800" b="1" dirty="0">
                <a:solidFill>
                  <a:srgbClr val="0070C0"/>
                </a:solidFill>
              </a:rPr>
              <a:t>機体座標系</a:t>
            </a:r>
            <a:r>
              <a:rPr kumimoji="1" lang="ja-JP" altLang="en-US" sz="2800" dirty="0"/>
              <a:t>」では  </a:t>
            </a:r>
            <a:r>
              <a:rPr kumimoji="1" lang="ja-JP" altLang="en-US" sz="2800" dirty="0">
                <a:solidFill>
                  <a:srgbClr val="0070C0"/>
                </a:solidFill>
              </a:rPr>
              <a:t>？？？</a:t>
            </a:r>
          </a:p>
        </p:txBody>
      </p:sp>
    </p:spTree>
    <p:extLst>
      <p:ext uri="{BB962C8B-B14F-4D97-AF65-F5344CB8AC3E}">
        <p14:creationId xmlns:p14="http://schemas.microsoft.com/office/powerpoint/2010/main" val="1368681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C1EC4128-68C4-7B7B-B178-27FF8B4C8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858" y="868526"/>
            <a:ext cx="3437082" cy="3874255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6B54E79-5AF0-AA5C-9FF6-0AC27FF1F542}"/>
              </a:ext>
            </a:extLst>
          </p:cNvPr>
          <p:cNvSpPr txBox="1"/>
          <p:nvPr/>
        </p:nvSpPr>
        <p:spPr>
          <a:xfrm>
            <a:off x="336136" y="261996"/>
            <a:ext cx="8084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「静止座標系」と「機体座標系」での速度の違い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4E4D371-1A7B-9FB2-C475-36048D9C969D}"/>
              </a:ext>
            </a:extLst>
          </p:cNvPr>
          <p:cNvSpPr txBox="1"/>
          <p:nvPr/>
        </p:nvSpPr>
        <p:spPr>
          <a:xfrm>
            <a:off x="960580" y="4535054"/>
            <a:ext cx="58496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</a:t>
            </a:r>
            <a:r>
              <a:rPr kumimoji="1" lang="ja-JP" altLang="en-US" dirty="0"/>
              <a:t>さんは静止している．</a:t>
            </a:r>
            <a:endParaRPr kumimoji="1" lang="en-US" altLang="ja-JP" dirty="0"/>
          </a:p>
          <a:p>
            <a:r>
              <a:rPr lang="en-US" altLang="ja-JP" dirty="0"/>
              <a:t>B</a:t>
            </a:r>
            <a:r>
              <a:rPr lang="ja-JP" altLang="en-US" dirty="0"/>
              <a:t>さんは回転するレコードプレーヤの上に乗っている．</a:t>
            </a:r>
            <a:endParaRPr lang="en-US" altLang="ja-JP" dirty="0"/>
          </a:p>
          <a:p>
            <a:r>
              <a:rPr lang="en-US" altLang="ja-JP" dirty="0"/>
              <a:t>C</a:t>
            </a:r>
            <a:r>
              <a:rPr lang="ja-JP" altLang="en-US" dirty="0"/>
              <a:t>さんが走っている．</a:t>
            </a:r>
            <a:endParaRPr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5594F0-D325-F9B5-6187-69929A2878C5}"/>
              </a:ext>
            </a:extLst>
          </p:cNvPr>
          <p:cNvSpPr txBox="1"/>
          <p:nvPr/>
        </p:nvSpPr>
        <p:spPr>
          <a:xfrm>
            <a:off x="794327" y="5541694"/>
            <a:ext cx="78197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問題：　</a:t>
            </a:r>
            <a:endParaRPr kumimoji="1" lang="en-US" altLang="ja-JP" b="1" dirty="0"/>
          </a:p>
          <a:p>
            <a:r>
              <a:rPr lang="ja-JP" altLang="en-US" dirty="0"/>
              <a:t>　</a:t>
            </a:r>
            <a:r>
              <a:rPr kumimoji="1" lang="en-US" altLang="ja-JP" dirty="0"/>
              <a:t>A</a:t>
            </a:r>
            <a:r>
              <a:rPr lang="ja-JP" altLang="en-US" dirty="0"/>
              <a:t>さんから見た </a:t>
            </a:r>
            <a:r>
              <a:rPr lang="en-US" altLang="ja-JP" dirty="0"/>
              <a:t>C </a:t>
            </a:r>
            <a:r>
              <a:rPr lang="ja-JP" altLang="en-US" dirty="0"/>
              <a:t>さんの速度（</a:t>
            </a:r>
            <a:r>
              <a:rPr lang="en-US" altLang="ja-JP" dirty="0"/>
              <a:t>A</a:t>
            </a:r>
            <a:r>
              <a:rPr lang="ja-JP" altLang="en-US" dirty="0"/>
              <a:t>さんの視線の動き）と，</a:t>
            </a:r>
            <a:endParaRPr lang="en-US" altLang="ja-JP" dirty="0"/>
          </a:p>
          <a:p>
            <a:r>
              <a:rPr lang="ja-JP" altLang="en-US" dirty="0"/>
              <a:t>　</a:t>
            </a:r>
            <a:r>
              <a:rPr lang="en-US" altLang="ja-JP" dirty="0"/>
              <a:t>B</a:t>
            </a:r>
            <a:r>
              <a:rPr lang="ja-JP" altLang="en-US" dirty="0"/>
              <a:t>さんから見た </a:t>
            </a:r>
            <a:r>
              <a:rPr lang="en-US" altLang="ja-JP" dirty="0"/>
              <a:t>C </a:t>
            </a:r>
            <a:r>
              <a:rPr lang="ja-JP" altLang="en-US" dirty="0"/>
              <a:t>さんの速度（</a:t>
            </a:r>
            <a:r>
              <a:rPr lang="en-US" altLang="ja-JP" dirty="0"/>
              <a:t>B</a:t>
            </a:r>
            <a:r>
              <a:rPr lang="ja-JP" altLang="en-US" dirty="0"/>
              <a:t>さんの視線の動き）はどれだけ違うか？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19282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63AFB9C-0784-E223-8E53-2D5B66E34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503" y="482039"/>
            <a:ext cx="3047460" cy="281723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0C70148-9A52-1175-BBCE-A92A8AC30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338" y="2228672"/>
            <a:ext cx="2772353" cy="51451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5DD07A6-02F6-2282-B46B-0B0C55BE9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570" y="3445154"/>
            <a:ext cx="7360303" cy="3323814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AEFC2CB-DA40-72AA-B8B4-92B274608E37}"/>
              </a:ext>
            </a:extLst>
          </p:cNvPr>
          <p:cNvSpPr txBox="1"/>
          <p:nvPr/>
        </p:nvSpPr>
        <p:spPr>
          <a:xfrm>
            <a:off x="560544" y="857222"/>
            <a:ext cx="170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</a:t>
            </a:r>
            <a:r>
              <a:rPr kumimoji="1" lang="ja-JP" altLang="en-US" dirty="0"/>
              <a:t>さんの見え方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B9516BD-7022-A3B3-ABB5-788DC9184BC6}"/>
              </a:ext>
            </a:extLst>
          </p:cNvPr>
          <p:cNvSpPr txBox="1"/>
          <p:nvPr/>
        </p:nvSpPr>
        <p:spPr>
          <a:xfrm>
            <a:off x="617988" y="3558727"/>
            <a:ext cx="169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</a:t>
            </a:r>
            <a:r>
              <a:rPr kumimoji="1" lang="ja-JP" altLang="en-US" dirty="0"/>
              <a:t>さんの見え方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EE479D2-F23D-88FD-E397-E300D56B6D98}"/>
              </a:ext>
            </a:extLst>
          </p:cNvPr>
          <p:cNvCxnSpPr>
            <a:cxnSpLocks/>
          </p:cNvCxnSpPr>
          <p:nvPr/>
        </p:nvCxnSpPr>
        <p:spPr>
          <a:xfrm>
            <a:off x="92364" y="3299273"/>
            <a:ext cx="6179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8006AB4-DAFD-CAB6-4299-500762F70E15}"/>
              </a:ext>
            </a:extLst>
          </p:cNvPr>
          <p:cNvSpPr txBox="1"/>
          <p:nvPr/>
        </p:nvSpPr>
        <p:spPr>
          <a:xfrm>
            <a:off x="230060" y="74549"/>
            <a:ext cx="7770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</a:t>
            </a:r>
            <a:r>
              <a:rPr lang="en-US" altLang="ja-JP" sz="2800" dirty="0"/>
              <a:t>A</a:t>
            </a:r>
            <a:r>
              <a:rPr lang="ja-JP" altLang="en-US" sz="2800" dirty="0"/>
              <a:t>さんの見え方</a:t>
            </a:r>
            <a:r>
              <a:rPr kumimoji="1" lang="ja-JP" altLang="en-US" sz="2800" dirty="0"/>
              <a:t>」と「</a:t>
            </a:r>
            <a:r>
              <a:rPr lang="en-US" altLang="ja-JP" sz="2800" dirty="0"/>
              <a:t>B</a:t>
            </a:r>
            <a:r>
              <a:rPr lang="ja-JP" altLang="en-US" sz="2800" dirty="0"/>
              <a:t>さんの見え方</a:t>
            </a:r>
            <a:r>
              <a:rPr kumimoji="1" lang="ja-JP" altLang="en-US" sz="2800" dirty="0"/>
              <a:t>」の違い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C1649E66-8D3A-0C4C-42D2-13FB390F08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060" y="3958693"/>
            <a:ext cx="2248333" cy="75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20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F8A84-933A-D567-511D-D980DFE91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D0B4CB87-3471-25C5-E274-DC0512CA0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701" y="5708133"/>
            <a:ext cx="3307125" cy="667828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C3776335-9AD9-7F48-DD28-7E281BA89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503" y="482039"/>
            <a:ext cx="2243897" cy="207437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9382B7A-EC2C-0FBC-D029-1BE64E8CD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6399" y="2727300"/>
            <a:ext cx="5618919" cy="253742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77999BB-04B9-EAF1-1317-60DE9DBAE65D}"/>
              </a:ext>
            </a:extLst>
          </p:cNvPr>
          <p:cNvSpPr txBox="1"/>
          <p:nvPr/>
        </p:nvSpPr>
        <p:spPr>
          <a:xfrm>
            <a:off x="560544" y="857222"/>
            <a:ext cx="170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</a:t>
            </a:r>
            <a:r>
              <a:rPr kumimoji="1" lang="ja-JP" altLang="en-US" dirty="0"/>
              <a:t>さんの見え方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1CB7A04-EBFE-C5AA-815B-3E2096708D42}"/>
              </a:ext>
            </a:extLst>
          </p:cNvPr>
          <p:cNvSpPr txBox="1"/>
          <p:nvPr/>
        </p:nvSpPr>
        <p:spPr>
          <a:xfrm>
            <a:off x="560544" y="2727299"/>
            <a:ext cx="1694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B</a:t>
            </a:r>
            <a:r>
              <a:rPr kumimoji="1" lang="ja-JP" altLang="en-US" dirty="0"/>
              <a:t>さんの見え方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5EF90F7-E9CD-AC91-C01E-887686981CA1}"/>
              </a:ext>
            </a:extLst>
          </p:cNvPr>
          <p:cNvCxnSpPr>
            <a:cxnSpLocks/>
          </p:cNvCxnSpPr>
          <p:nvPr/>
        </p:nvCxnSpPr>
        <p:spPr>
          <a:xfrm>
            <a:off x="109393" y="2613726"/>
            <a:ext cx="6179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85C43CB-7974-A592-8A7F-8914CA6863F4}"/>
              </a:ext>
            </a:extLst>
          </p:cNvPr>
          <p:cNvSpPr txBox="1"/>
          <p:nvPr/>
        </p:nvSpPr>
        <p:spPr>
          <a:xfrm>
            <a:off x="230060" y="74549"/>
            <a:ext cx="7770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</a:t>
            </a:r>
            <a:r>
              <a:rPr lang="en-US" altLang="ja-JP" sz="2800" dirty="0"/>
              <a:t>A</a:t>
            </a:r>
            <a:r>
              <a:rPr lang="ja-JP" altLang="en-US" sz="2800" dirty="0"/>
              <a:t>さんの見え方</a:t>
            </a:r>
            <a:r>
              <a:rPr kumimoji="1" lang="ja-JP" altLang="en-US" sz="2800" dirty="0"/>
              <a:t>」と「</a:t>
            </a:r>
            <a:r>
              <a:rPr lang="en-US" altLang="ja-JP" sz="2800" dirty="0"/>
              <a:t>B</a:t>
            </a:r>
            <a:r>
              <a:rPr lang="ja-JP" altLang="en-US" sz="2800" dirty="0"/>
              <a:t>さんの見え方</a:t>
            </a:r>
            <a:r>
              <a:rPr kumimoji="1" lang="ja-JP" altLang="en-US" sz="2800" dirty="0"/>
              <a:t>」の違い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DB77604-921D-0558-829A-2412265BC3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44" y="4869765"/>
            <a:ext cx="3547485" cy="78992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33FE804-1906-B18D-A005-D162F80969BA}"/>
              </a:ext>
            </a:extLst>
          </p:cNvPr>
          <p:cNvSpPr txBox="1"/>
          <p:nvPr/>
        </p:nvSpPr>
        <p:spPr>
          <a:xfrm>
            <a:off x="4799752" y="5659691"/>
            <a:ext cx="20938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←</a:t>
            </a:r>
            <a:r>
              <a:rPr kumimoji="1" lang="en-US" altLang="ja-JP" sz="1600" dirty="0">
                <a:solidFill>
                  <a:srgbClr val="FF0000"/>
                </a:solidFill>
              </a:rPr>
              <a:t>v(t)</a:t>
            </a:r>
            <a:r>
              <a:rPr kumimoji="1" lang="ja-JP" altLang="en-US" sz="1600" dirty="0"/>
              <a:t>を外積で表すと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63A9621-EE85-510F-2461-4F92EFA7A3D1}"/>
              </a:ext>
            </a:extLst>
          </p:cNvPr>
          <p:cNvSpPr txBox="1"/>
          <p:nvPr/>
        </p:nvSpPr>
        <p:spPr>
          <a:xfrm>
            <a:off x="3380509" y="648866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まとめると・・・</a:t>
            </a:r>
          </a:p>
        </p:txBody>
      </p:sp>
    </p:spTree>
    <p:extLst>
      <p:ext uri="{BB962C8B-B14F-4D97-AF65-F5344CB8AC3E}">
        <p14:creationId xmlns:p14="http://schemas.microsoft.com/office/powerpoint/2010/main" val="11857794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172B621-4A7C-E4A0-B745-F08DB5216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28" y="2034561"/>
            <a:ext cx="6008688" cy="1076083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6EC0B8-2EC6-53E7-F2CE-2A582AEA1EB6}"/>
              </a:ext>
            </a:extLst>
          </p:cNvPr>
          <p:cNvSpPr txBox="1"/>
          <p:nvPr/>
        </p:nvSpPr>
        <p:spPr>
          <a:xfrm>
            <a:off x="336136" y="261996"/>
            <a:ext cx="86885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「静止座標系」と「機体座標系」の時間</a:t>
            </a:r>
            <a:r>
              <a:rPr lang="ja-JP" altLang="en-US" sz="2800" dirty="0"/>
              <a:t>微分</a:t>
            </a:r>
            <a:r>
              <a:rPr kumimoji="1" lang="ja-JP" altLang="en-US" sz="2800" dirty="0"/>
              <a:t>の違い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C503917-CF09-6197-E6A8-BC1AE4EDC384}"/>
              </a:ext>
            </a:extLst>
          </p:cNvPr>
          <p:cNvGrpSpPr/>
          <p:nvPr/>
        </p:nvGrpSpPr>
        <p:grpSpPr>
          <a:xfrm>
            <a:off x="1875978" y="2527389"/>
            <a:ext cx="38880" cy="21600"/>
            <a:chOff x="1875978" y="2527389"/>
            <a:chExt cx="38880" cy="2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インク 5">
                  <a:extLst>
                    <a:ext uri="{FF2B5EF4-FFF2-40B4-BE49-F238E27FC236}">
                      <a16:creationId xmlns:a16="http://schemas.microsoft.com/office/drawing/2014/main" id="{60F04978-5C37-5804-F768-25170A443EB1}"/>
                    </a:ext>
                  </a:extLst>
                </p14:cNvPr>
                <p14:cNvContentPartPr/>
                <p14:nvPr/>
              </p14:nvContentPartPr>
              <p14:xfrm>
                <a:off x="1875978" y="2542869"/>
                <a:ext cx="5040" cy="6120"/>
              </p14:xfrm>
            </p:contentPart>
          </mc:Choice>
          <mc:Fallback xmlns="">
            <p:pic>
              <p:nvPicPr>
                <p:cNvPr id="6" name="インク 5">
                  <a:extLst>
                    <a:ext uri="{FF2B5EF4-FFF2-40B4-BE49-F238E27FC236}">
                      <a16:creationId xmlns:a16="http://schemas.microsoft.com/office/drawing/2014/main" id="{60F04978-5C37-5804-F768-25170A443EB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69858" y="2536749"/>
                  <a:ext cx="172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インク 6">
                  <a:extLst>
                    <a:ext uri="{FF2B5EF4-FFF2-40B4-BE49-F238E27FC236}">
                      <a16:creationId xmlns:a16="http://schemas.microsoft.com/office/drawing/2014/main" id="{1DDA20C0-5791-0495-1F4A-6893DF367404}"/>
                    </a:ext>
                  </a:extLst>
                </p14:cNvPr>
                <p14:cNvContentPartPr/>
                <p14:nvPr/>
              </p14:nvContentPartPr>
              <p14:xfrm>
                <a:off x="1902258" y="2527389"/>
                <a:ext cx="360" cy="360"/>
              </p14:xfrm>
            </p:contentPart>
          </mc:Choice>
          <mc:Fallback xmlns="">
            <p:pic>
              <p:nvPicPr>
                <p:cNvPr id="7" name="インク 6">
                  <a:extLst>
                    <a:ext uri="{FF2B5EF4-FFF2-40B4-BE49-F238E27FC236}">
                      <a16:creationId xmlns:a16="http://schemas.microsoft.com/office/drawing/2014/main" id="{1DDA20C0-5791-0495-1F4A-6893DF36740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96138" y="252126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3090E175-4256-C749-92AB-A42D21FB3A3A}"/>
                    </a:ext>
                  </a:extLst>
                </p14:cNvPr>
                <p14:cNvContentPartPr/>
                <p14:nvPr/>
              </p14:nvContentPartPr>
              <p14:xfrm>
                <a:off x="1914498" y="2539989"/>
                <a:ext cx="360" cy="36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3090E175-4256-C749-92AB-A42D21FB3A3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08378" y="253386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394026F-93CE-5D93-3CAC-7D642D926BB0}"/>
              </a:ext>
            </a:extLst>
          </p:cNvPr>
          <p:cNvSpPr txBox="1"/>
          <p:nvPr/>
        </p:nvSpPr>
        <p:spPr>
          <a:xfrm>
            <a:off x="897494" y="5779353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静止座標系での</a:t>
            </a:r>
            <a:endParaRPr kumimoji="1" lang="en-US" altLang="ja-JP" dirty="0"/>
          </a:p>
          <a:p>
            <a:r>
              <a:rPr lang="ja-JP" altLang="en-US" dirty="0"/>
              <a:t>角運動量の微分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CCC6937-E519-2E60-1D7A-38358603856B}"/>
              </a:ext>
            </a:extLst>
          </p:cNvPr>
          <p:cNvSpPr txBox="1"/>
          <p:nvPr/>
        </p:nvSpPr>
        <p:spPr>
          <a:xfrm>
            <a:off x="3175430" y="5779354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機体</a:t>
            </a:r>
            <a:r>
              <a:rPr kumimoji="1" lang="ja-JP" altLang="en-US" dirty="0"/>
              <a:t>座標系での</a:t>
            </a:r>
            <a:endParaRPr kumimoji="1" lang="en-US" altLang="ja-JP" dirty="0"/>
          </a:p>
          <a:p>
            <a:r>
              <a:rPr lang="ja-JP" altLang="en-US" dirty="0"/>
              <a:t>角運動量の微分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E30ECC2-265C-84D4-A91C-FFEDA390E93A}"/>
              </a:ext>
            </a:extLst>
          </p:cNvPr>
          <p:cNvSpPr txBox="1"/>
          <p:nvPr/>
        </p:nvSpPr>
        <p:spPr>
          <a:xfrm>
            <a:off x="2697987" y="59634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＝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C1E387C-CF11-6740-265F-C0CE5AEB6514}"/>
              </a:ext>
            </a:extLst>
          </p:cNvPr>
          <p:cNvSpPr txBox="1"/>
          <p:nvPr/>
        </p:nvSpPr>
        <p:spPr>
          <a:xfrm>
            <a:off x="4975923" y="5963441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＋ </a:t>
            </a:r>
            <a:r>
              <a:rPr lang="ja-JP" altLang="en-US" dirty="0"/>
              <a:t>機体の角速度  </a:t>
            </a:r>
            <a:r>
              <a:rPr lang="en-US" altLang="ja-JP" dirty="0"/>
              <a:t>×</a:t>
            </a:r>
            <a:r>
              <a:rPr lang="ja-JP" altLang="en-US" dirty="0"/>
              <a:t> 角運動量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D3A3928-D9C1-3982-E5FB-406E7629CCA4}"/>
              </a:ext>
            </a:extLst>
          </p:cNvPr>
          <p:cNvSpPr txBox="1"/>
          <p:nvPr/>
        </p:nvSpPr>
        <p:spPr>
          <a:xfrm>
            <a:off x="1212596" y="1411074"/>
            <a:ext cx="4169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時間で微分したい</a:t>
            </a:r>
            <a:r>
              <a:rPr kumimoji="1" lang="ja-JP" altLang="en-US" dirty="0"/>
              <a:t>ベクトルを </a:t>
            </a:r>
            <a:r>
              <a:rPr kumimoji="1" lang="en-US" altLang="ja-JP" sz="3200" b="1" dirty="0">
                <a:solidFill>
                  <a:srgbClr val="00B050"/>
                </a:solidFill>
              </a:rPr>
              <a:t>r </a:t>
            </a:r>
            <a:r>
              <a:rPr kumimoji="1" lang="ja-JP" altLang="en-US" dirty="0"/>
              <a:t>とする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884E55F-1353-D920-45C2-9A9BD11360F8}"/>
              </a:ext>
            </a:extLst>
          </p:cNvPr>
          <p:cNvSpPr txBox="1"/>
          <p:nvPr/>
        </p:nvSpPr>
        <p:spPr>
          <a:xfrm>
            <a:off x="271042" y="101124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「回転体の微分公式」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F7085F0-E79F-9F17-0348-C01867B39EF7}"/>
              </a:ext>
            </a:extLst>
          </p:cNvPr>
          <p:cNvSpPr txBox="1"/>
          <p:nvPr/>
        </p:nvSpPr>
        <p:spPr>
          <a:xfrm>
            <a:off x="1212596" y="3411441"/>
            <a:ext cx="6377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角運動量ベクトル </a:t>
            </a:r>
            <a:r>
              <a:rPr kumimoji="1" lang="en-US" altLang="ja-JP" dirty="0"/>
              <a:t>L(t) </a:t>
            </a:r>
            <a:r>
              <a:rPr kumimoji="1" lang="ja-JP" altLang="en-US" dirty="0"/>
              <a:t>に「回転体の微分公式」を適用すると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6007D4CC-DAC1-DE3C-3623-66EB01096E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880" y="4175028"/>
            <a:ext cx="6674716" cy="1401833"/>
          </a:xfrm>
          <a:prstGeom prst="rect">
            <a:avLst/>
          </a:prstGeom>
        </p:spPr>
      </p:pic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CC123961-8FB3-3110-B940-E5C3C25A2723}"/>
              </a:ext>
            </a:extLst>
          </p:cNvPr>
          <p:cNvSpPr/>
          <p:nvPr/>
        </p:nvSpPr>
        <p:spPr>
          <a:xfrm>
            <a:off x="207384" y="894559"/>
            <a:ext cx="8752256" cy="21932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38165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0CA01-E207-9580-EBFD-CC7BA2A5B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9132EB-3F82-0B1F-3855-6F343FAEB384}"/>
              </a:ext>
            </a:extLst>
          </p:cNvPr>
          <p:cNvSpPr txBox="1"/>
          <p:nvPr/>
        </p:nvSpPr>
        <p:spPr>
          <a:xfrm>
            <a:off x="114689" y="4273222"/>
            <a:ext cx="888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「静止座標系」では 　　</a:t>
            </a:r>
            <a:r>
              <a:rPr lang="ja-JP" altLang="en-US" sz="2800" dirty="0"/>
              <a:t>　　　　　　　と書かれる．</a:t>
            </a:r>
            <a:endParaRPr lang="en-US" altLang="ja-JP" sz="2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59DD319-1CA4-0F98-FB1F-9D4BF082CBDA}"/>
              </a:ext>
            </a:extLst>
          </p:cNvPr>
          <p:cNvSpPr txBox="1"/>
          <p:nvPr/>
        </p:nvSpPr>
        <p:spPr>
          <a:xfrm>
            <a:off x="230909" y="398971"/>
            <a:ext cx="9020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剛体</a:t>
            </a:r>
            <a:r>
              <a:rPr kumimoji="1" lang="ja-JP" altLang="en-US" sz="2400" b="1" dirty="0"/>
              <a:t>の運動法則：「トルク </a:t>
            </a:r>
            <a:r>
              <a:rPr kumimoji="1" lang="en-US" altLang="ja-JP" sz="2400" b="1" dirty="0"/>
              <a:t>τ</a:t>
            </a:r>
            <a:r>
              <a:rPr lang="ja-JP" altLang="en-US" sz="2400" b="1" dirty="0"/>
              <a:t> をかけると</a:t>
            </a:r>
            <a:r>
              <a:rPr kumimoji="1" lang="ja-JP" altLang="en-US" sz="2400" b="1" dirty="0"/>
              <a:t>角運動量 </a:t>
            </a:r>
            <a:r>
              <a:rPr kumimoji="1" lang="en-US" altLang="ja-JP" sz="2400" b="1" dirty="0"/>
              <a:t>L </a:t>
            </a:r>
            <a:r>
              <a:rPr kumimoji="1" lang="ja-JP" altLang="en-US" sz="2400" b="1" dirty="0"/>
              <a:t>が変化する」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3BDE57F-964A-F57C-FBE8-18BDB034781F}"/>
              </a:ext>
            </a:extLst>
          </p:cNvPr>
          <p:cNvSpPr txBox="1"/>
          <p:nvPr/>
        </p:nvSpPr>
        <p:spPr>
          <a:xfrm>
            <a:off x="2247604" y="3505096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これを式で</a:t>
            </a:r>
            <a:r>
              <a:rPr lang="ja-JP" altLang="en-US" dirty="0"/>
              <a:t>書いた</a:t>
            </a:r>
            <a:r>
              <a:rPr kumimoji="1" lang="ja-JP" altLang="en-US" dirty="0"/>
              <a:t>のが運動方程式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インク 1">
                <a:extLst>
                  <a:ext uri="{FF2B5EF4-FFF2-40B4-BE49-F238E27FC236}">
                    <a16:creationId xmlns:a16="http://schemas.microsoft.com/office/drawing/2014/main" id="{9E99A6F4-B039-D3BC-D895-787CEF5199E8}"/>
                  </a:ext>
                </a:extLst>
              </p14:cNvPr>
              <p14:cNvContentPartPr/>
              <p14:nvPr/>
            </p14:nvContentPartPr>
            <p14:xfrm>
              <a:off x="4355298" y="1112229"/>
              <a:ext cx="360" cy="29880"/>
            </p14:xfrm>
          </p:contentPart>
        </mc:Choice>
        <mc:Fallback xmlns="">
          <p:pic>
            <p:nvPicPr>
              <p:cNvPr id="2" name="インク 1">
                <a:extLst>
                  <a:ext uri="{FF2B5EF4-FFF2-40B4-BE49-F238E27FC236}">
                    <a16:creationId xmlns:a16="http://schemas.microsoft.com/office/drawing/2014/main" id="{9E99A6F4-B039-D3BC-D895-787CEF5199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9178" y="1106109"/>
                <a:ext cx="12600" cy="4212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73965340-E435-3F50-957D-DA5219329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632" y="860636"/>
            <a:ext cx="4409931" cy="249226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3F0121F-B15F-83EB-D6D1-D2CE709C9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309" y="3944188"/>
            <a:ext cx="2674943" cy="1004108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127C4CD-E64E-665E-C485-6DD702788D23}"/>
              </a:ext>
            </a:extLst>
          </p:cNvPr>
          <p:cNvSpPr txBox="1"/>
          <p:nvPr/>
        </p:nvSpPr>
        <p:spPr>
          <a:xfrm>
            <a:off x="114689" y="5347090"/>
            <a:ext cx="4657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「</a:t>
            </a:r>
            <a:r>
              <a:rPr kumimoji="1" lang="ja-JP" altLang="en-US" sz="2800" b="1" dirty="0">
                <a:solidFill>
                  <a:srgbClr val="0070C0"/>
                </a:solidFill>
              </a:rPr>
              <a:t>機体座標系</a:t>
            </a:r>
            <a:r>
              <a:rPr kumimoji="1" lang="ja-JP" altLang="en-US" sz="2800" dirty="0"/>
              <a:t>」では  </a:t>
            </a:r>
            <a:r>
              <a:rPr kumimoji="1" lang="ja-JP" altLang="en-US" sz="2800" dirty="0">
                <a:solidFill>
                  <a:srgbClr val="0070C0"/>
                </a:solidFill>
              </a:rPr>
              <a:t>？？？</a:t>
            </a:r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6B1ED8B7-EF30-F0E4-7378-043ED8F46293}"/>
              </a:ext>
            </a:extLst>
          </p:cNvPr>
          <p:cNvSpPr/>
          <p:nvPr/>
        </p:nvSpPr>
        <p:spPr>
          <a:xfrm>
            <a:off x="3831309" y="6003636"/>
            <a:ext cx="454364" cy="7618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1E0B0A-3728-2D20-4202-2E40D75C2735}"/>
              </a:ext>
            </a:extLst>
          </p:cNvPr>
          <p:cNvSpPr txBox="1"/>
          <p:nvPr/>
        </p:nvSpPr>
        <p:spPr>
          <a:xfrm>
            <a:off x="4567987" y="6199897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つぎのスライドでようやく出ます！</a:t>
            </a:r>
          </a:p>
        </p:txBody>
      </p:sp>
    </p:spTree>
    <p:extLst>
      <p:ext uri="{BB962C8B-B14F-4D97-AF65-F5344CB8AC3E}">
        <p14:creationId xmlns:p14="http://schemas.microsoft.com/office/powerpoint/2010/main" val="1664354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76A0AE82-8ED6-2AE2-E1D1-88C1185CF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644" y="1556939"/>
            <a:ext cx="5425849" cy="134463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7BF6EDB-9AF1-DD03-DE95-53418B2DD7F4}"/>
              </a:ext>
            </a:extLst>
          </p:cNvPr>
          <p:cNvSpPr txBox="1"/>
          <p:nvPr/>
        </p:nvSpPr>
        <p:spPr>
          <a:xfrm>
            <a:off x="4018002" y="442684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静止座標系での運動方程式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C7C272F-8343-F416-63D4-8FB76BA05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39" y="220322"/>
            <a:ext cx="1951473" cy="8265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インク 7">
                <a:extLst>
                  <a:ext uri="{FF2B5EF4-FFF2-40B4-BE49-F238E27FC236}">
                    <a16:creationId xmlns:a16="http://schemas.microsoft.com/office/drawing/2014/main" id="{1A1E6D3D-8E53-A71D-FD8F-2B728A4ADDC6}"/>
                  </a:ext>
                </a:extLst>
              </p14:cNvPr>
              <p14:cNvContentPartPr/>
              <p14:nvPr/>
            </p14:nvContentPartPr>
            <p14:xfrm>
              <a:off x="4760312" y="1786491"/>
              <a:ext cx="51120" cy="10080"/>
            </p14:xfrm>
          </p:contentPart>
        </mc:Choice>
        <mc:Fallback xmlns="">
          <p:pic>
            <p:nvPicPr>
              <p:cNvPr id="8" name="インク 7">
                <a:extLst>
                  <a:ext uri="{FF2B5EF4-FFF2-40B4-BE49-F238E27FC236}">
                    <a16:creationId xmlns:a16="http://schemas.microsoft.com/office/drawing/2014/main" id="{1A1E6D3D-8E53-A71D-FD8F-2B728A4ADD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54192" y="1780371"/>
                <a:ext cx="63360" cy="2232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図 9">
            <a:extLst>
              <a:ext uri="{FF2B5EF4-FFF2-40B4-BE49-F238E27FC236}">
                <a16:creationId xmlns:a16="http://schemas.microsoft.com/office/drawing/2014/main" id="{7110BB00-F3B9-0396-3BB6-C88706C70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6422" y="986029"/>
            <a:ext cx="4386567" cy="951133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3D8A916-309E-65BF-EF1D-A68B18CF910B}"/>
              </a:ext>
            </a:extLst>
          </p:cNvPr>
          <p:cNvSpPr txBox="1"/>
          <p:nvPr/>
        </p:nvSpPr>
        <p:spPr>
          <a:xfrm>
            <a:off x="1139259" y="11533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左辺に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B3A0D59-8AEB-5113-DEFE-267AE9695896}"/>
              </a:ext>
            </a:extLst>
          </p:cNvPr>
          <p:cNvSpPr txBox="1"/>
          <p:nvPr/>
        </p:nvSpPr>
        <p:spPr>
          <a:xfrm>
            <a:off x="6250415" y="114049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の微分公式を</a:t>
            </a:r>
            <a:r>
              <a:rPr kumimoji="1" lang="ja-JP" altLang="en-US" dirty="0"/>
              <a:t>使う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520D7332-7D9D-9ADE-93AB-CD90B4532DE4}"/>
                  </a:ext>
                </a:extLst>
              </p14:cNvPr>
              <p14:cNvContentPartPr/>
              <p14:nvPr/>
            </p14:nvContentPartPr>
            <p14:xfrm>
              <a:off x="5384898" y="634509"/>
              <a:ext cx="360" cy="360"/>
            </p14:xfrm>
          </p:contentPart>
        </mc:Choice>
        <mc:Fallback xmlns=""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520D7332-7D9D-9ADE-93AB-CD90B4532DE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78778" y="62838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4498A91-855D-1FB6-64CE-22E44BAC474A}"/>
              </a:ext>
            </a:extLst>
          </p:cNvPr>
          <p:cNvSpPr txBox="1"/>
          <p:nvPr/>
        </p:nvSpPr>
        <p:spPr>
          <a:xfrm>
            <a:off x="2875392" y="2371150"/>
            <a:ext cx="4099581" cy="659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この式に現れているベクトルの成分は</a:t>
            </a:r>
            <a:endParaRPr kumimoji="1" lang="en-US" altLang="ja-JP" dirty="0"/>
          </a:p>
          <a:p>
            <a:r>
              <a:rPr kumimoji="1" lang="ja-JP" altLang="en-US" dirty="0"/>
              <a:t>すべて</a:t>
            </a:r>
            <a:r>
              <a:rPr kumimoji="1" lang="ja-JP" altLang="en-US" dirty="0">
                <a:solidFill>
                  <a:srgbClr val="00B0F0"/>
                </a:solidFill>
              </a:rPr>
              <a:t>機体座標系</a:t>
            </a:r>
            <a:r>
              <a:rPr kumimoji="1" lang="ja-JP" altLang="en-US" dirty="0"/>
              <a:t>で表すとする．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76DB46A0-09D3-14C2-9687-B43C8B1692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7394" y="2972036"/>
            <a:ext cx="1978112" cy="416444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7CB65AB-48DA-9288-8A31-A8F26A2770F3}"/>
              </a:ext>
            </a:extLst>
          </p:cNvPr>
          <p:cNvSpPr txBox="1"/>
          <p:nvPr/>
        </p:nvSpPr>
        <p:spPr>
          <a:xfrm>
            <a:off x="4018002" y="30513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と表せる</a:t>
            </a:r>
            <a:endParaRPr kumimoji="1" lang="ja-JP" altLang="en-US" dirty="0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EE405EC7-A76F-019B-23BB-D0CB90F32D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4767" y="3363600"/>
            <a:ext cx="4795766" cy="737249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641CDFD9-ABEA-8A67-4A72-ECB64B9B4B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9935" y="3964168"/>
            <a:ext cx="5183266" cy="725375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47C69308-A656-0380-6981-8777AEA076D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16016" y="5473361"/>
            <a:ext cx="5450061" cy="625246"/>
          </a:xfrm>
          <a:prstGeom prst="rect">
            <a:avLst/>
          </a:prstGeom>
        </p:spPr>
      </p:pic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4E2A779F-C53F-5DEE-641F-619067949773}"/>
              </a:ext>
            </a:extLst>
          </p:cNvPr>
          <p:cNvGrpSpPr/>
          <p:nvPr/>
        </p:nvGrpSpPr>
        <p:grpSpPr>
          <a:xfrm>
            <a:off x="1137607" y="4689543"/>
            <a:ext cx="49680" cy="36720"/>
            <a:chOff x="1137258" y="5671269"/>
            <a:chExt cx="49680" cy="3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0" name="インク 29">
                  <a:extLst>
                    <a:ext uri="{FF2B5EF4-FFF2-40B4-BE49-F238E27FC236}">
                      <a16:creationId xmlns:a16="http://schemas.microsoft.com/office/drawing/2014/main" id="{4439A61A-26A6-8E01-F069-71C255166009}"/>
                    </a:ext>
                  </a:extLst>
                </p14:cNvPr>
                <p14:cNvContentPartPr/>
                <p14:nvPr/>
              </p14:nvContentPartPr>
              <p14:xfrm>
                <a:off x="1137258" y="5674149"/>
                <a:ext cx="47160" cy="33480"/>
              </p14:xfrm>
            </p:contentPart>
          </mc:Choice>
          <mc:Fallback xmlns="">
            <p:pic>
              <p:nvPicPr>
                <p:cNvPr id="30" name="インク 29">
                  <a:extLst>
                    <a:ext uri="{FF2B5EF4-FFF2-40B4-BE49-F238E27FC236}">
                      <a16:creationId xmlns:a16="http://schemas.microsoft.com/office/drawing/2014/main" id="{4439A61A-26A6-8E01-F069-71C25516600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31138" y="5668029"/>
                  <a:ext cx="59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1" name="インク 30">
                  <a:extLst>
                    <a:ext uri="{FF2B5EF4-FFF2-40B4-BE49-F238E27FC236}">
                      <a16:creationId xmlns:a16="http://schemas.microsoft.com/office/drawing/2014/main" id="{DCB10F28-48E9-D5AA-71B7-51FFA824A83A}"/>
                    </a:ext>
                  </a:extLst>
                </p14:cNvPr>
                <p14:cNvContentPartPr/>
                <p14:nvPr/>
              </p14:nvContentPartPr>
              <p14:xfrm>
                <a:off x="1137258" y="5671269"/>
                <a:ext cx="49680" cy="36720"/>
              </p14:xfrm>
            </p:contentPart>
          </mc:Choice>
          <mc:Fallback xmlns="">
            <p:pic>
              <p:nvPicPr>
                <p:cNvPr id="31" name="インク 30">
                  <a:extLst>
                    <a:ext uri="{FF2B5EF4-FFF2-40B4-BE49-F238E27FC236}">
                      <a16:creationId xmlns:a16="http://schemas.microsoft.com/office/drawing/2014/main" id="{DCB10F28-48E9-D5AA-71B7-51FFA824A83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31138" y="5665149"/>
                  <a:ext cx="61920" cy="48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78C74A1-55DC-1035-CB18-5494A35135F7}"/>
              </a:ext>
            </a:extLst>
          </p:cNvPr>
          <p:cNvSpPr txBox="1"/>
          <p:nvPr/>
        </p:nvSpPr>
        <p:spPr>
          <a:xfrm>
            <a:off x="825601" y="5035611"/>
            <a:ext cx="6643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00B0F0"/>
                </a:solidFill>
              </a:rPr>
              <a:t>機体座標系での運動方程式：</a:t>
            </a:r>
            <a:r>
              <a:rPr kumimoji="1" lang="ja-JP" altLang="en-US" b="1" dirty="0">
                <a:solidFill>
                  <a:srgbClr val="00B0F0"/>
                </a:solidFill>
              </a:rPr>
              <a:t>「オイラーの運動方程式」</a:t>
            </a: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55029482-E9CF-BE1F-D5F2-411A4761B485}"/>
              </a:ext>
            </a:extLst>
          </p:cNvPr>
          <p:cNvSpPr/>
          <p:nvPr/>
        </p:nvSpPr>
        <p:spPr>
          <a:xfrm>
            <a:off x="526473" y="4919397"/>
            <a:ext cx="7773839" cy="13040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38A4A8-8E35-C3DB-2F66-8E3DCD69827D}"/>
              </a:ext>
            </a:extLst>
          </p:cNvPr>
          <p:cNvSpPr txBox="1"/>
          <p:nvPr/>
        </p:nvSpPr>
        <p:spPr>
          <a:xfrm>
            <a:off x="6574493" y="4321105"/>
            <a:ext cx="1563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外積の公式</a:t>
            </a:r>
            <a:endParaRPr lang="en-US" altLang="ja-JP" dirty="0"/>
          </a:p>
          <a:p>
            <a:r>
              <a:rPr lang="en-US" altLang="ja-JP" dirty="0" err="1"/>
              <a:t>a</a:t>
            </a:r>
            <a:r>
              <a:rPr kumimoji="1" lang="en-US" altLang="ja-JP" dirty="0" err="1"/>
              <a:t>×b</a:t>
            </a:r>
            <a:r>
              <a:rPr kumimoji="1" lang="en-US" altLang="ja-JP" dirty="0"/>
              <a:t> = </a:t>
            </a:r>
            <a:r>
              <a:rPr kumimoji="1" lang="ja-JP" altLang="en-US" dirty="0"/>
              <a:t>－</a:t>
            </a:r>
            <a:r>
              <a:rPr kumimoji="1" lang="en-US" altLang="ja-JP" dirty="0" err="1"/>
              <a:t>b×a</a:t>
            </a:r>
            <a:endParaRPr kumimoji="1" lang="ja-JP" altLang="en-US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CADA061-4170-0ED1-E5E7-45065A8C1EA8}"/>
              </a:ext>
            </a:extLst>
          </p:cNvPr>
          <p:cNvSpPr txBox="1"/>
          <p:nvPr/>
        </p:nvSpPr>
        <p:spPr>
          <a:xfrm>
            <a:off x="6130035" y="370739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右辺へ移項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E3EED66-B599-36FC-A735-A6A379BBB7F6}"/>
              </a:ext>
            </a:extLst>
          </p:cNvPr>
          <p:cNvSpPr txBox="1"/>
          <p:nvPr/>
        </p:nvSpPr>
        <p:spPr>
          <a:xfrm>
            <a:off x="825601" y="6311146"/>
            <a:ext cx="780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この式があれば衛星の回転シミュレーション，制御系の設計ができる！</a:t>
            </a:r>
          </a:p>
        </p:txBody>
      </p:sp>
    </p:spTree>
    <p:extLst>
      <p:ext uri="{BB962C8B-B14F-4D97-AF65-F5344CB8AC3E}">
        <p14:creationId xmlns:p14="http://schemas.microsoft.com/office/powerpoint/2010/main" val="16173080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8DF1F9-2824-6060-3B03-61E47B5A0013}"/>
              </a:ext>
            </a:extLst>
          </p:cNvPr>
          <p:cNvSpPr txBox="1"/>
          <p:nvPr/>
        </p:nvSpPr>
        <p:spPr>
          <a:xfrm>
            <a:off x="831380" y="335199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ここまでのまとめ：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A77019-6A45-3F8A-3E53-5EF0E4285B40}"/>
              </a:ext>
            </a:extLst>
          </p:cNvPr>
          <p:cNvSpPr txBox="1"/>
          <p:nvPr/>
        </p:nvSpPr>
        <p:spPr>
          <a:xfrm>
            <a:off x="1401901" y="1041356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人工衛星の運動方程式を導出した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7F369E-318E-6868-5D92-6868F93B9A11}"/>
              </a:ext>
            </a:extLst>
          </p:cNvPr>
          <p:cNvSpPr txBox="1"/>
          <p:nvPr/>
        </p:nvSpPr>
        <p:spPr>
          <a:xfrm>
            <a:off x="1145420" y="5616589"/>
            <a:ext cx="7622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機体座標系で</a:t>
            </a:r>
            <a:r>
              <a:rPr kumimoji="1" lang="ja-JP" altLang="en-US" sz="2000" dirty="0"/>
              <a:t>の微分公式が用いられる（外積による速度の補正）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BB36F5-7CA0-E6F2-59EB-77568CAF8376}"/>
              </a:ext>
            </a:extLst>
          </p:cNvPr>
          <p:cNvSpPr txBox="1"/>
          <p:nvPr/>
        </p:nvSpPr>
        <p:spPr>
          <a:xfrm>
            <a:off x="1145420" y="4833749"/>
            <a:ext cx="48013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姿勢制御を考えるには機体座標系が必要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901A2D-9716-D085-166D-497876C38171}"/>
              </a:ext>
            </a:extLst>
          </p:cNvPr>
          <p:cNvSpPr txBox="1"/>
          <p:nvPr/>
        </p:nvSpPr>
        <p:spPr>
          <a:xfrm>
            <a:off x="1145420" y="2819804"/>
            <a:ext cx="6853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固定点まわり</a:t>
            </a:r>
            <a:r>
              <a:rPr lang="ja-JP" altLang="en-US" sz="2000" dirty="0"/>
              <a:t>だと回転軸がいろんな方向を向く．</a:t>
            </a:r>
            <a:endParaRPr lang="en-US" altLang="ja-JP" sz="2000" dirty="0"/>
          </a:p>
          <a:p>
            <a:r>
              <a:rPr lang="ja-JP" altLang="en-US" sz="2000" dirty="0"/>
              <a:t>（すべての量を３次元ベクトルで考えなければならない）</a:t>
            </a:r>
            <a:endParaRPr lang="en-US" altLang="ja-JP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13A658D-34B0-3E8F-556F-2A3A336CA338}"/>
              </a:ext>
            </a:extLst>
          </p:cNvPr>
          <p:cNvSpPr txBox="1"/>
          <p:nvPr/>
        </p:nvSpPr>
        <p:spPr>
          <a:xfrm>
            <a:off x="677492" y="211511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意外と難しくなる要因：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A8C02AC-9556-2B01-79C6-6FE1C5C9CC30}"/>
              </a:ext>
            </a:extLst>
          </p:cNvPr>
          <p:cNvSpPr txBox="1"/>
          <p:nvPr/>
        </p:nvSpPr>
        <p:spPr>
          <a:xfrm>
            <a:off x="2143702" y="3872111"/>
            <a:ext cx="6853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角速度ベクトル，</a:t>
            </a:r>
            <a:r>
              <a:rPr kumimoji="1" lang="ja-JP" altLang="en-US" sz="2000" dirty="0"/>
              <a:t>トルクベクトル</a:t>
            </a:r>
            <a:r>
              <a:rPr lang="ja-JP" altLang="en-US" sz="2000" dirty="0"/>
              <a:t>などの３次元ベクトル，</a:t>
            </a:r>
            <a:endParaRPr kumimoji="1" lang="en-US" altLang="ja-JP" sz="2000" dirty="0"/>
          </a:p>
          <a:p>
            <a:r>
              <a:rPr kumimoji="1" lang="ja-JP" altLang="en-US" sz="2000" dirty="0"/>
              <a:t>慣性テンソル（３行３列）の</a:t>
            </a:r>
            <a:r>
              <a:rPr lang="ja-JP" altLang="en-US" sz="2000" dirty="0"/>
              <a:t>行列</a:t>
            </a:r>
            <a:r>
              <a:rPr kumimoji="1" lang="ja-JP" altLang="en-US" sz="2000" dirty="0"/>
              <a:t>が現れる</a:t>
            </a:r>
          </a:p>
        </p:txBody>
      </p:sp>
      <p:sp>
        <p:nvSpPr>
          <p:cNvPr id="10" name="矢印: 上向き折線 9">
            <a:extLst>
              <a:ext uri="{FF2B5EF4-FFF2-40B4-BE49-F238E27FC236}">
                <a16:creationId xmlns:a16="http://schemas.microsoft.com/office/drawing/2014/main" id="{D04963C9-F225-6CA3-1615-F8F13AF3E655}"/>
              </a:ext>
            </a:extLst>
          </p:cNvPr>
          <p:cNvSpPr/>
          <p:nvPr/>
        </p:nvSpPr>
        <p:spPr>
          <a:xfrm rot="5400000">
            <a:off x="1589377" y="3872504"/>
            <a:ext cx="576072" cy="33141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57559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D24FE-F5F9-2F60-2FCF-7156ED64D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CB4F4F7-8D1B-E45A-9A69-15C521F127FF}"/>
              </a:ext>
            </a:extLst>
          </p:cNvPr>
          <p:cNvSpPr txBox="1"/>
          <p:nvPr/>
        </p:nvSpPr>
        <p:spPr>
          <a:xfrm>
            <a:off x="1145421" y="2364510"/>
            <a:ext cx="6853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/>
              <a:t>第</a:t>
            </a:r>
            <a:r>
              <a:rPr lang="ja-JP" altLang="en-US" sz="4000" dirty="0"/>
              <a:t>２</a:t>
            </a:r>
            <a:r>
              <a:rPr kumimoji="1" lang="ja-JP" altLang="en-US" sz="4000" dirty="0"/>
              <a:t>章：人工衛星の姿勢制御</a:t>
            </a:r>
          </a:p>
        </p:txBody>
      </p:sp>
    </p:spTree>
    <p:extLst>
      <p:ext uri="{BB962C8B-B14F-4D97-AF65-F5344CB8AC3E}">
        <p14:creationId xmlns:p14="http://schemas.microsoft.com/office/powerpoint/2010/main" val="8273942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D48EF90-7ACB-A56E-4722-E71A5E815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798"/>
            <a:ext cx="9144000" cy="436825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DD4F7F5-7173-14AB-7A81-A34CC6CA56AE}"/>
              </a:ext>
            </a:extLst>
          </p:cNvPr>
          <p:cNvSpPr txBox="1"/>
          <p:nvPr/>
        </p:nvSpPr>
        <p:spPr>
          <a:xfrm>
            <a:off x="2207491" y="4985055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（１）</a:t>
            </a:r>
            <a:r>
              <a:rPr kumimoji="1" lang="ja-JP" altLang="en-US" sz="2800" dirty="0"/>
              <a:t>リアクションホイール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AF6F210-B524-6123-927E-CED22D92D51E}"/>
              </a:ext>
            </a:extLst>
          </p:cNvPr>
          <p:cNvSpPr txBox="1"/>
          <p:nvPr/>
        </p:nvSpPr>
        <p:spPr>
          <a:xfrm>
            <a:off x="2207491" y="5717982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（２）磁気トルカ</a:t>
            </a:r>
            <a:endParaRPr kumimoji="1" lang="en-US" altLang="ja-JP" sz="28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7B58AE4-0DBF-A2C0-C90D-76204A51C254}"/>
              </a:ext>
            </a:extLst>
          </p:cNvPr>
          <p:cNvSpPr txBox="1"/>
          <p:nvPr/>
        </p:nvSpPr>
        <p:spPr>
          <a:xfrm>
            <a:off x="443345" y="32441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制御するためのトルク</a:t>
            </a:r>
          </a:p>
        </p:txBody>
      </p:sp>
    </p:spTree>
    <p:extLst>
      <p:ext uri="{BB962C8B-B14F-4D97-AF65-F5344CB8AC3E}">
        <p14:creationId xmlns:p14="http://schemas.microsoft.com/office/powerpoint/2010/main" val="1418130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8F66032-6E9E-FFE3-A1DB-50F29E3EE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770" y="722794"/>
            <a:ext cx="5597235" cy="3068733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B7B476-73F0-9D38-80B1-F1D5AB95CD4D}"/>
              </a:ext>
            </a:extLst>
          </p:cNvPr>
          <p:cNvSpPr txBox="1"/>
          <p:nvPr/>
        </p:nvSpPr>
        <p:spPr>
          <a:xfrm>
            <a:off x="1634836" y="169572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（１）</a:t>
            </a:r>
            <a:r>
              <a:rPr kumimoji="1" lang="ja-JP" altLang="en-US" sz="2800" dirty="0"/>
              <a:t>リアクションホイール</a:t>
            </a:r>
          </a:p>
        </p:txBody>
      </p:sp>
      <p:pic>
        <p:nvPicPr>
          <p:cNvPr id="4" name="人工衛星模型倒立 (1)">
            <a:hlinkClick r:id="" action="ppaction://media"/>
            <a:extLst>
              <a:ext uri="{FF2B5EF4-FFF2-40B4-BE49-F238E27FC236}">
                <a16:creationId xmlns:a16="http://schemas.microsoft.com/office/drawing/2014/main" id="{2F0FE04B-B835-B4DA-1F9D-288A087C6D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725" y="862847"/>
            <a:ext cx="2653849" cy="4717954"/>
          </a:xfrm>
          <a:prstGeom prst="rect">
            <a:avLst/>
          </a:prstGeom>
        </p:spPr>
      </p:pic>
      <p:sp>
        <p:nvSpPr>
          <p:cNvPr id="5" name="左中かっこ 4">
            <a:extLst>
              <a:ext uri="{FF2B5EF4-FFF2-40B4-BE49-F238E27FC236}">
                <a16:creationId xmlns:a16="http://schemas.microsoft.com/office/drawing/2014/main" id="{85EAA725-D74E-33C4-73B0-CE824320884A}"/>
              </a:ext>
            </a:extLst>
          </p:cNvPr>
          <p:cNvSpPr/>
          <p:nvPr/>
        </p:nvSpPr>
        <p:spPr>
          <a:xfrm>
            <a:off x="6853382" y="2447636"/>
            <a:ext cx="155448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2C95A214-D553-4A23-724A-0E7E74C92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2770" y="3990109"/>
            <a:ext cx="6424852" cy="269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3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3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C2F19356-6BA9-4E1C-1034-77970EB7C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95" y="934524"/>
            <a:ext cx="7578783" cy="592347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E155FE6-490B-F3C1-277B-B93BEB6D97DB}"/>
              </a:ext>
            </a:extLst>
          </p:cNvPr>
          <p:cNvSpPr txBox="1"/>
          <p:nvPr/>
        </p:nvSpPr>
        <p:spPr>
          <a:xfrm>
            <a:off x="2641599" y="28700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（２）磁気トルカ</a:t>
            </a:r>
            <a:endParaRPr kumimoji="1" lang="en-US" altLang="ja-JP" sz="2800" dirty="0"/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837CDC54-9242-A58A-F376-23B343B32171}"/>
              </a:ext>
            </a:extLst>
          </p:cNvPr>
          <p:cNvSpPr/>
          <p:nvPr/>
        </p:nvSpPr>
        <p:spPr>
          <a:xfrm>
            <a:off x="6086764" y="4239491"/>
            <a:ext cx="129309" cy="3417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88C2F08E-625C-7A12-5F85-A7DE7FEB2F12}"/>
              </a:ext>
            </a:extLst>
          </p:cNvPr>
          <p:cNvSpPr/>
          <p:nvPr/>
        </p:nvSpPr>
        <p:spPr>
          <a:xfrm>
            <a:off x="6063673" y="5207000"/>
            <a:ext cx="129309" cy="3417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885760A5-B800-7EAF-F8CA-B1834F279D91}"/>
                  </a:ext>
                </a:extLst>
              </p14:cNvPr>
              <p14:cNvContentPartPr/>
              <p14:nvPr/>
            </p14:nvContentPartPr>
            <p14:xfrm>
              <a:off x="8337978" y="4222269"/>
              <a:ext cx="11160" cy="864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885760A5-B800-7EAF-F8CA-B1834F279D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31858" y="4216149"/>
                <a:ext cx="2340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4904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ab0efbb-90eb-45fe-8492-9cb232f9a24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7198A9E284E4546930404FC5BF84D21" ma:contentTypeVersion="13" ma:contentTypeDescription="新しいドキュメントを作成します。" ma:contentTypeScope="" ma:versionID="00de9d8953c87b04ee737b42cab71101">
  <xsd:schema xmlns:xsd="http://www.w3.org/2001/XMLSchema" xmlns:xs="http://www.w3.org/2001/XMLSchema" xmlns:p="http://schemas.microsoft.com/office/2006/metadata/properties" xmlns:ns3="eab0efbb-90eb-45fe-8492-9cb232f9a244" targetNamespace="http://schemas.microsoft.com/office/2006/metadata/properties" ma:root="true" ma:fieldsID="7ed93cad44bf8cc8f298e8c476c913ca" ns3:_="">
    <xsd:import namespace="eab0efbb-90eb-45fe-8492-9cb232f9a2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b0efbb-90eb-45fe-8492-9cb232f9a2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82EE67-2C7E-429D-B784-EBD78E0A3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F3A9D1-D450-4499-974A-9D3994543B9F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eab0efbb-90eb-45fe-8492-9cb232f9a244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000D95A-2734-4614-8958-FBF39803A96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ab0efbb-90eb-45fe-8492-9cb232f9a24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1450</TotalTime>
  <Words>1537</Words>
  <Application>Microsoft Office PowerPoint</Application>
  <PresentationFormat>画面に合わせる (4:3)</PresentationFormat>
  <Paragraphs>171</Paragraphs>
  <Slides>41</Slides>
  <Notes>5</Notes>
  <HiddenSlides>0</HiddenSlides>
  <MMClips>3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41</vt:i4>
      </vt:variant>
    </vt:vector>
  </HeadingPairs>
  <TitlesOfParts>
    <vt:vector size="48" baseType="lpstr">
      <vt:lpstr>HGS創英角ﾎﾟｯﾌﾟ体</vt:lpstr>
      <vt:lpstr>HG創英角ﾎﾟｯﾌﾟ体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muramatu</dc:creator>
  <cp:lastModifiedBy>村松鋭一</cp:lastModifiedBy>
  <cp:revision>101</cp:revision>
  <dcterms:created xsi:type="dcterms:W3CDTF">2024-04-22T06:05:26Z</dcterms:created>
  <dcterms:modified xsi:type="dcterms:W3CDTF">2026-08-05T04:18:54Z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0x01010087198A9E284E4546930404FC5BF84D21</vt:lpwstr>
  </property>
</Properties>
</file>